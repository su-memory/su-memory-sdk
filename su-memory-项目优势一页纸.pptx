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35024"/>
            <a:ext cx="12191695" cy="27940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82296" cy="4572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D4FF"/>
                </a:solidFill>
                <a:latin typeface="PingFang SC"/>
              </a:rPr>
              <a:t>PROJECT 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ECF1FF"/>
                </a:solidFill>
                <a:latin typeface="PingFang SC"/>
              </a:rPr>
              <a:t>su-memory SDK · 项目核心优势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6070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A95A8"/>
                </a:solidFill>
                <a:latin typeface="PingFang SC"/>
              </a:rPr>
              <a:t>Semantic Memory Engine v4.0  ·  基于因果推理与时序感知的语义记忆引擎  ·  Apache-2.0 开源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457200"/>
            <a:ext cx="2926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C84D"/>
                </a:solidFill>
                <a:latin typeface="PingFang SC"/>
              </a:rPr>
              <a:t>给 AI 一个不会忘的大脑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5A8"/>
                </a:solidFill>
                <a:latin typeface="PingFang SC"/>
              </a:rPr>
              <a:t>LLM 之上的记忆层基础设施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36192"/>
            <a:ext cx="3675887" cy="2084831"/>
          </a:xfrm>
          <a:prstGeom prst="rect">
            <a:avLst/>
          </a:prstGeom>
          <a:solidFill>
            <a:srgbClr val="111624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3675887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" y="1773936"/>
            <a:ext cx="384048" cy="3840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1847088"/>
            <a:ext cx="237744" cy="237744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2" y="1737360"/>
            <a:ext cx="28529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CF1FF"/>
                </a:solidFill>
                <a:latin typeface="PingFang SC"/>
              </a:rPr>
              <a:t>技术壁垒深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029968"/>
            <a:ext cx="28529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0D4FF"/>
                </a:solidFill>
                <a:latin typeface="PingFang SC"/>
              </a:rPr>
              <a:t>MATHEMATICAL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377440"/>
            <a:ext cx="3218687" cy="1170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00D4FF"/>
                </a:solidFill>
                <a:latin typeface="PingFang SC"/>
              </a:rPr>
              <a:t>1,756 行</a:t>
            </a:r>
            <a:r>
              <a:rPr sz="950" b="0">
                <a:solidFill>
                  <a:srgbClr val="ECF1FF"/>
                </a:solidFill>
                <a:latin typeface="PingFang SC"/>
              </a:rPr>
              <a:t> 纯数学理论层（algebra）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A95A8"/>
                </a:solidFill>
                <a:latin typeface="PingFang SC"/>
              </a:rPr>
              <a:t>8 个模块</a:t>
            </a:r>
            <a:r>
              <a:rPr sz="950" b="0">
                <a:solidFill>
                  <a:srgbClr val="ECF1FF"/>
                </a:solidFill>
                <a:latin typeface="PingFang SC"/>
              </a:rPr>
              <a:t> · GF(2)³ / 因果 DAG / 时序环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00D4FF"/>
                </a:solidFill>
                <a:latin typeface="PingFang SC"/>
              </a:rPr>
              <a:t>138+ 单测</a:t>
            </a:r>
            <a:r>
              <a:rPr sz="950" b="0">
                <a:solidFill>
                  <a:srgbClr val="ECF1FF"/>
                </a:solidFill>
                <a:latin typeface="PingFang SC"/>
              </a:rPr>
              <a:t> 验证数学正确性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A95A8"/>
                </a:solidFill>
                <a:latin typeface="PingFang SC"/>
              </a:rPr>
              <a:t/>
            </a:r>
            <a:r>
              <a:rPr sz="950" b="0">
                <a:solidFill>
                  <a:srgbClr val="ECF1FF"/>
                </a:solidFill>
                <a:latin typeface="PingFang SC"/>
              </a:rPr>
              <a:t> 论文级底层框架，竞品无法复制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8535" y="1536192"/>
            <a:ext cx="3675887" cy="2084831"/>
          </a:xfrm>
          <a:prstGeom prst="rect">
            <a:avLst/>
          </a:prstGeom>
          <a:solidFill>
            <a:srgbClr val="111624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8535" y="1536192"/>
            <a:ext cx="3675887" cy="45720"/>
          </a:xfrm>
          <a:prstGeom prst="rect">
            <a:avLst/>
          </a:prstGeom>
          <a:solidFill>
            <a:srgbClr val="9EF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9703" y="1773936"/>
            <a:ext cx="384048" cy="3840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62855" y="1847088"/>
            <a:ext cx="237744" cy="237744"/>
          </a:xfrm>
          <a:prstGeom prst="ellipse">
            <a:avLst/>
          </a:prstGeom>
          <a:solidFill>
            <a:srgbClr val="9EF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1767" y="1737360"/>
            <a:ext cx="28529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CF1FF"/>
                </a:solidFill>
                <a:latin typeface="PingFang SC"/>
              </a:rPr>
              <a:t>性能可复现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1767" y="2029968"/>
            <a:ext cx="28529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EFF6B"/>
                </a:solidFill>
                <a:latin typeface="PingFang SC"/>
              </a:rPr>
              <a:t>HONEST BENCHMARK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2377440"/>
            <a:ext cx="3218687" cy="1170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9EFF6B"/>
                </a:solidFill>
                <a:latin typeface="PingFang SC"/>
              </a:rPr>
              <a:t>62.5%</a:t>
            </a:r>
            <a:r>
              <a:rPr sz="950" b="0">
                <a:solidFill>
                  <a:srgbClr val="ECF1FF"/>
                </a:solidFill>
                <a:latin typeface="PingFang SC"/>
              </a:rPr>
              <a:t> HotpotQA 标准 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9EFF6B"/>
                </a:solidFill>
                <a:latin typeface="PingFang SC"/>
              </a:rPr>
              <a:t>超 DFGN</a:t>
            </a:r>
            <a:r>
              <a:rPr sz="950" b="0">
                <a:solidFill>
                  <a:srgbClr val="ECF1FF"/>
                </a:solidFill>
                <a:latin typeface="PingFang SC"/>
              </a:rPr>
              <a:t> (48.2%) 约 14 个百分点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9EFF6B"/>
                </a:solidFill>
                <a:latin typeface="PingFang SC"/>
              </a:rPr>
              <a:t>73.5%</a:t>
            </a:r>
            <a:r>
              <a:rPr sz="950" b="0">
                <a:solidFill>
                  <a:srgbClr val="ECF1FF"/>
                </a:solidFill>
                <a:latin typeface="PingFang SC"/>
              </a:rPr>
              <a:t> comparison 题超 Hindsight SOTA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A95A8"/>
                </a:solidFill>
                <a:latin typeface="PingFang SC"/>
              </a:rPr>
              <a:t/>
            </a:r>
            <a:r>
              <a:rPr sz="950" b="0">
                <a:solidFill>
                  <a:srgbClr val="ECF1FF"/>
                </a:solidFill>
                <a:latin typeface="PingFang SC"/>
              </a:rPr>
              <a:t> 全部可复现，已主动删除历史虚标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0" y="1536192"/>
            <a:ext cx="3675887" cy="2084831"/>
          </a:xfrm>
          <a:prstGeom prst="rect">
            <a:avLst/>
          </a:prstGeom>
          <a:solidFill>
            <a:srgbClr val="111624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0" y="1536192"/>
            <a:ext cx="3675887" cy="45720"/>
          </a:xfrm>
          <a:prstGeom prst="rect">
            <a:avLst/>
          </a:prstGeom>
          <a:solidFill>
            <a:srgbClr val="FF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5318" y="1773936"/>
            <a:ext cx="384048" cy="3840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8470" y="1847088"/>
            <a:ext cx="237744" cy="237744"/>
          </a:xfrm>
          <a:prstGeom prst="ellipse">
            <a:avLst/>
          </a:prstGeom>
          <a:solidFill>
            <a:srgbClr val="FFC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87382" y="1737360"/>
            <a:ext cx="28529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CF1FF"/>
                </a:solidFill>
                <a:latin typeface="PingFang SC"/>
              </a:rPr>
              <a:t>工程成熟度高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7382" y="2029968"/>
            <a:ext cx="28529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FFC84D"/>
                </a:solidFill>
                <a:latin typeface="PingFang SC"/>
              </a:rPr>
              <a:t>PRODUCTION-READY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4" y="2377440"/>
            <a:ext cx="3218687" cy="1170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C84D"/>
                </a:solidFill>
                <a:latin typeface="PingFang SC"/>
              </a:rPr>
              <a:t>61,487 行</a:t>
            </a:r>
            <a:r>
              <a:rPr sz="950" b="0">
                <a:solidFill>
                  <a:srgbClr val="ECF1FF"/>
                </a:solidFill>
                <a:latin typeface="PingFang SC"/>
              </a:rPr>
              <a:t> 核心代码 · 124 个模块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C84D"/>
                </a:solidFill>
                <a:latin typeface="PingFang SC"/>
              </a:rPr>
              <a:t>19,354 行</a:t>
            </a:r>
            <a:r>
              <a:rPr sz="950" b="0">
                <a:solidFill>
                  <a:srgbClr val="ECF1FF"/>
                </a:solidFill>
                <a:latin typeface="PingFang SC"/>
              </a:rPr>
              <a:t> 测试代码 · 58 个测试文件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C84D"/>
                </a:solidFill>
                <a:latin typeface="PingFang SC"/>
              </a:rPr>
              <a:t>42 个</a:t>
            </a:r>
            <a:r>
              <a:rPr sz="950" b="0">
                <a:solidFill>
                  <a:srgbClr val="ECF1FF"/>
                </a:solidFill>
                <a:latin typeface="PingFang SC"/>
              </a:rPr>
              <a:t> 结构化错误码 · 完整异常体系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A95A8"/>
                </a:solidFill>
                <a:latin typeface="PingFang SC"/>
              </a:rPr>
              <a:t/>
            </a:r>
            <a:r>
              <a:rPr sz="950" b="0">
                <a:solidFill>
                  <a:srgbClr val="ECF1FF"/>
                </a:solidFill>
                <a:latin typeface="PingFang SC"/>
              </a:rPr>
              <a:t> PyPI 已发布 · Docker 部署就绪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749039"/>
            <a:ext cx="3675887" cy="2084831"/>
          </a:xfrm>
          <a:prstGeom prst="rect">
            <a:avLst/>
          </a:prstGeom>
          <a:solidFill>
            <a:srgbClr val="111624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749039"/>
            <a:ext cx="3675887" cy="45720"/>
          </a:xfrm>
          <a:prstGeom prst="rect">
            <a:avLst/>
          </a:prstGeom>
          <a:solidFill>
            <a:srgbClr val="FF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" y="3986783"/>
            <a:ext cx="384048" cy="3840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" y="4059935"/>
            <a:ext cx="237744" cy="237744"/>
          </a:xfrm>
          <a:prstGeom prst="ellipse">
            <a:avLst/>
          </a:prstGeom>
          <a:solidFill>
            <a:srgbClr val="FF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16152" y="3950207"/>
            <a:ext cx="28529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CF1FF"/>
                </a:solidFill>
                <a:latin typeface="PingFang SC"/>
              </a:rPr>
              <a:t>多级降级容错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242815"/>
            <a:ext cx="28529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FF6BB5"/>
                </a:solidFill>
                <a:latin typeface="PingFang SC"/>
              </a:rPr>
              <a:t>ZERO-DOWNTIME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" y="4590287"/>
            <a:ext cx="3218687" cy="1170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6BB5"/>
                </a:solidFill>
                <a:latin typeface="PingFang SC"/>
              </a:rPr>
              <a:t>7 组件</a:t>
            </a:r>
            <a:r>
              <a:rPr sz="950" b="0">
                <a:solidFill>
                  <a:srgbClr val="ECF1FF"/>
                </a:solidFill>
                <a:latin typeface="PingFang SC"/>
              </a:rPr>
              <a:t> 多级降级矩阵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6BB5"/>
                </a:solidFill>
                <a:latin typeface="PingFang SC"/>
              </a:rPr>
              <a:t>零依赖</a:t>
            </a:r>
            <a:r>
              <a:rPr sz="950" b="0">
                <a:solidFill>
                  <a:srgbClr val="ECF1FF"/>
                </a:solidFill>
                <a:latin typeface="PingFang SC"/>
              </a:rPr>
              <a:t> 也能跑（TF-IDF 兜底）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A95A8"/>
                </a:solidFill>
                <a:latin typeface="PingFang SC"/>
              </a:rPr>
              <a:t/>
            </a:r>
            <a:r>
              <a:rPr sz="950" b="0">
                <a:solidFill>
                  <a:srgbClr val="ECF1FF"/>
                </a:solidFill>
                <a:latin typeface="PingFang SC"/>
              </a:rPr>
              <a:t> API 挂了不全瘫，金融/医疗刚需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A95A8"/>
                </a:solidFill>
                <a:latin typeface="PingFang SC"/>
              </a:rPr>
              <a:t/>
            </a:r>
            <a:r>
              <a:rPr sz="950" b="0">
                <a:solidFill>
                  <a:srgbClr val="ECF1FF"/>
                </a:solidFill>
                <a:latin typeface="PingFang SC"/>
              </a:rPr>
              <a:t> 竞品不具备的可用性护城河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88535" y="3749039"/>
            <a:ext cx="3675887" cy="2084831"/>
          </a:xfrm>
          <a:prstGeom prst="rect">
            <a:avLst/>
          </a:prstGeom>
          <a:solidFill>
            <a:srgbClr val="111624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88535" y="3749039"/>
            <a:ext cx="3675887" cy="457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89703" y="3986783"/>
            <a:ext cx="384048" cy="3840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562855" y="4059935"/>
            <a:ext cx="237744" cy="237744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01767" y="3950207"/>
            <a:ext cx="28529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CF1FF"/>
                </a:solidFill>
                <a:latin typeface="PingFang SC"/>
              </a:rPr>
              <a:t>本地优先合规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1767" y="4242815"/>
            <a:ext cx="28529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0D4FF"/>
                </a:solidFill>
                <a:latin typeface="PingFang SC"/>
              </a:rPr>
              <a:t>LOCAL-FIRST · CHINA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79" y="4590287"/>
            <a:ext cx="3218687" cy="1170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00D4FF"/>
                </a:solidFill>
                <a:latin typeface="PingFang SC"/>
              </a:rPr>
              <a:t>全链路</a:t>
            </a:r>
            <a:r>
              <a:rPr sz="950" b="0">
                <a:solidFill>
                  <a:srgbClr val="ECF1FF"/>
                </a:solidFill>
                <a:latin typeface="PingFang SC"/>
              </a:rPr>
              <a:t> 本地化，数据不出域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A95A8"/>
                </a:solidFill>
                <a:latin typeface="PingFang SC"/>
              </a:rPr>
              <a:t/>
            </a:r>
            <a:r>
              <a:rPr sz="950" b="0">
                <a:solidFill>
                  <a:srgbClr val="ECF1FF"/>
                </a:solidFill>
                <a:latin typeface="PingFang SC"/>
              </a:rPr>
              <a:t> 嵌入 / 存储 / 推理均在端侧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00D4FF"/>
                </a:solidFill>
                <a:latin typeface="PingFang SC"/>
              </a:rPr>
              <a:t/>
            </a:r>
            <a:r>
              <a:rPr sz="950" b="0">
                <a:solidFill>
                  <a:srgbClr val="ECF1FF"/>
                </a:solidFill>
                <a:latin typeface="PingFang SC"/>
              </a:rPr>
              <a:t> 满足《数据安全法》《个保法》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A95A8"/>
                </a:solidFill>
                <a:latin typeface="PingFang SC"/>
              </a:rPr>
              <a:t/>
            </a:r>
            <a:r>
              <a:rPr sz="950" b="0">
                <a:solidFill>
                  <a:srgbClr val="ECF1FF"/>
                </a:solidFill>
                <a:latin typeface="PingFang SC"/>
              </a:rPr>
              <a:t> 中国强监管行业唯一可用选择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74150" y="3749039"/>
            <a:ext cx="3675887" cy="2084831"/>
          </a:xfrm>
          <a:prstGeom prst="rect">
            <a:avLst/>
          </a:prstGeom>
          <a:solidFill>
            <a:srgbClr val="111624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74150" y="3749039"/>
            <a:ext cx="3675887" cy="45720"/>
          </a:xfrm>
          <a:prstGeom prst="rect">
            <a:avLst/>
          </a:prstGeom>
          <a:solidFill>
            <a:srgbClr val="9EF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75318" y="3986783"/>
            <a:ext cx="384048" cy="3840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348470" y="4059935"/>
            <a:ext cx="237744" cy="237744"/>
          </a:xfrm>
          <a:prstGeom prst="ellipse">
            <a:avLst/>
          </a:prstGeom>
          <a:solidFill>
            <a:srgbClr val="9EF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87382" y="3950207"/>
            <a:ext cx="28529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CF1FF"/>
                </a:solidFill>
                <a:latin typeface="PingFang SC"/>
              </a:rPr>
              <a:t>工程诚实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7382" y="4242815"/>
            <a:ext cx="285292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EFF6B"/>
                </a:solidFill>
                <a:latin typeface="PingFang SC"/>
              </a:rPr>
              <a:t>TRUST AS ASSET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11894" y="4590287"/>
            <a:ext cx="3218687" cy="1170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9EFF6B"/>
                </a:solidFill>
                <a:latin typeface="PingFang SC"/>
              </a:rPr>
              <a:t>主动删除</a:t>
            </a:r>
            <a:r>
              <a:rPr sz="950" b="0">
                <a:solidFill>
                  <a:srgbClr val="ECF1FF"/>
                </a:solidFill>
                <a:latin typeface="PingFang SC"/>
              </a:rPr>
              <a:t> 历史虚标数据（78%/82.5%）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A95A8"/>
                </a:solidFill>
                <a:latin typeface="PingFang SC"/>
              </a:rPr>
              <a:t/>
            </a:r>
            <a:r>
              <a:rPr sz="950" b="0">
                <a:solidFill>
                  <a:srgbClr val="ECF1FF"/>
                </a:solidFill>
                <a:latin typeface="PingFang SC"/>
              </a:rPr>
              <a:t> 自标 Beta · 披露距 SOTA 差 8 点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9EFF6B"/>
                </a:solidFill>
                <a:latin typeface="PingFang SC"/>
              </a:rPr>
              <a:t/>
            </a:r>
            <a:r>
              <a:rPr sz="950" b="0">
                <a:solidFill>
                  <a:srgbClr val="ECF1FF"/>
                </a:solidFill>
                <a:latin typeface="PingFang SC"/>
              </a:rPr>
              <a:t> 在 AI 注水普遍期，诚实即稀缺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8A95A8"/>
                </a:solidFill>
                <a:latin typeface="PingFang SC"/>
              </a:rPr>
              <a:t>55 次提交</a:t>
            </a:r>
            <a:r>
              <a:rPr sz="950" b="0">
                <a:solidFill>
                  <a:srgbClr val="ECF1FF"/>
                </a:solidFill>
                <a:latin typeface="PingFang SC"/>
              </a:rPr>
              <a:t> 持续迭代，非 PPT 项目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6089904"/>
            <a:ext cx="11183112" cy="585216"/>
          </a:xfrm>
          <a:prstGeom prst="rect">
            <a:avLst/>
          </a:prstGeom>
          <a:solidFill>
            <a:srgbClr val="0E1422"/>
          </a:solidFill>
          <a:ln w="12700">
            <a:solidFill>
              <a:srgbClr val="1E2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6163056"/>
            <a:ext cx="18638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0D4FF"/>
                </a:solidFill>
                <a:latin typeface="PingFang SC"/>
              </a:rPr>
              <a:t>v4.0.1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5A8"/>
                </a:solidFill>
                <a:latin typeface="PingFang SC"/>
              </a:rPr>
              <a:t>当前版本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66772" y="6163056"/>
            <a:ext cx="18638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95A8"/>
                </a:solidFill>
                <a:latin typeface="PingFang SC"/>
              </a:rPr>
              <a:t>Apache-2.0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5A8"/>
                </a:solidFill>
                <a:latin typeface="PingFang SC"/>
              </a:rPr>
              <a:t>开源协议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66772" y="6217920"/>
            <a:ext cx="12700" cy="329184"/>
          </a:xfrm>
          <a:prstGeom prst="rect">
            <a:avLst/>
          </a:prstGeom>
          <a:solidFill>
            <a:srgbClr val="1E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30624" y="6163056"/>
            <a:ext cx="18638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95A8"/>
                </a:solidFill>
                <a:latin typeface="PingFang SC"/>
              </a:rPr>
              <a:t>3 种 SDK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5A8"/>
                </a:solidFill>
                <a:latin typeface="PingFang SC"/>
              </a:rPr>
              <a:t>Python · TS · JS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30624" y="6217920"/>
            <a:ext cx="12700" cy="329184"/>
          </a:xfrm>
          <a:prstGeom prst="rect">
            <a:avLst/>
          </a:prstGeom>
          <a:solidFill>
            <a:srgbClr val="1E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94476" y="6163056"/>
            <a:ext cx="18638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95A8"/>
                </a:solidFill>
                <a:latin typeface="PingFang SC"/>
              </a:rPr>
              <a:t>5 种存储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5A8"/>
                </a:solidFill>
                <a:latin typeface="PingFang SC"/>
              </a:rPr>
              <a:t>Redis·PG·Qdrant·SQLite·FAISS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94476" y="6217920"/>
            <a:ext cx="12700" cy="329184"/>
          </a:xfrm>
          <a:prstGeom prst="rect">
            <a:avLst/>
          </a:prstGeom>
          <a:solidFill>
            <a:srgbClr val="1E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58328" y="6163056"/>
            <a:ext cx="18638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95A8"/>
                </a:solidFill>
                <a:latin typeface="PingFang SC"/>
              </a:rPr>
              <a:t>24 篇文档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5A8"/>
                </a:solidFill>
                <a:latin typeface="PingFang SC"/>
              </a:rPr>
              <a:t>完整开发者体验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58328" y="6217920"/>
            <a:ext cx="12700" cy="329184"/>
          </a:xfrm>
          <a:prstGeom prst="rect">
            <a:avLst/>
          </a:prstGeom>
          <a:solidFill>
            <a:srgbClr val="1E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22180" y="6163056"/>
            <a:ext cx="18638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95A8"/>
                </a:solidFill>
                <a:latin typeface="PingFang SC"/>
              </a:rPr>
              <a:t>Python 3.10+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5A8"/>
                </a:solidFill>
                <a:latin typeface="PingFang SC"/>
              </a:rPr>
              <a:t>运行环境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22180" y="6217920"/>
            <a:ext cx="12700" cy="329184"/>
          </a:xfrm>
          <a:prstGeom prst="rect">
            <a:avLst/>
          </a:prstGeom>
          <a:solidFill>
            <a:srgbClr val="1E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6729984"/>
            <a:ext cx="7315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8A95A8"/>
                </a:solidFill>
                <a:latin typeface="PingFang SC"/>
              </a:rPr>
              <a:t>sandysu737@gmail.com  ·  github.com/su-memory/su-memory-sdk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