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1e089d2a958f4b2c" Type="http://schemas.openxmlformats.org/package/2006/relationships/metadata/core-properties" Target="docProps/core.xml"/><Relationship Id="R5eb989436c4546ce" Type="http://schemas.openxmlformats.org/officeDocument/2006/relationships/extended-properties" Target="docProps/app.xml"/><Relationship Id="Re283327ef5e140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f0cd0650304d66"/>
  </p:sldMasterIdLst>
  <p:notesMasterIdLst>
    <p:notesMasterId xmlns:r="http://schemas.openxmlformats.org/officeDocument/2006/relationships" r:id="Rc14e6c4757b747fa"/>
  </p:notesMasterIdLst>
  <p:sldIdLst>
    <p:sldId xmlns:r="http://schemas.openxmlformats.org/officeDocument/2006/relationships" id="256" r:id="R0cc5b29a597d42a6"/>
    <p:sldId xmlns:r="http://schemas.openxmlformats.org/officeDocument/2006/relationships" id="257" r:id="R4abaea949ded4a92"/>
    <p:sldId xmlns:r="http://schemas.openxmlformats.org/officeDocument/2006/relationships" id="258" r:id="R509544f5893d4518"/>
    <p:sldId xmlns:r="http://schemas.openxmlformats.org/officeDocument/2006/relationships" id="259" r:id="R5404ea0ff65d4a1e"/>
    <p:sldId xmlns:r="http://schemas.openxmlformats.org/officeDocument/2006/relationships" id="260" r:id="Rdc0e9893ec9c4cc3"/>
    <p:sldId xmlns:r="http://schemas.openxmlformats.org/officeDocument/2006/relationships" id="261" r:id="Rb32ac7c1b32b4165"/>
    <p:sldId xmlns:r="http://schemas.openxmlformats.org/officeDocument/2006/relationships" id="262" r:id="Rd7acf43e973e4241"/>
    <p:sldId xmlns:r="http://schemas.openxmlformats.org/officeDocument/2006/relationships" id="263" r:id="R3316cbbc612c46bf"/>
    <p:sldId xmlns:r="http://schemas.openxmlformats.org/officeDocument/2006/relationships" id="264" r:id="Rdaf6ec888fb946f2"/>
    <p:sldId xmlns:r="http://schemas.openxmlformats.org/officeDocument/2006/relationships" id="265" r:id="R6b3415c6c9aa4c8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6a0cc1ae2d84089" Type="http://schemas.openxmlformats.org/officeDocument/2006/relationships/presProps" Target="presProps.xml"/><Relationship Id="R0cc5b29a597d42a6" Type="http://schemas.openxmlformats.org/officeDocument/2006/relationships/slide" Target="slides/slide1.xml"/><Relationship Id="R3316cbbc612c46bf" Type="http://schemas.openxmlformats.org/officeDocument/2006/relationships/slide" Target="slides/slide8.xml"/><Relationship Id="R4abaea949ded4a92" Type="http://schemas.openxmlformats.org/officeDocument/2006/relationships/slide" Target="slides/slide2.xml"/><Relationship Id="R4c643e42e4574b86" Type="http://schemas.openxmlformats.org/officeDocument/2006/relationships/theme" Target="theme/theme1.xml"/><Relationship Id="R509544f5893d4518" Type="http://schemas.openxmlformats.org/officeDocument/2006/relationships/slide" Target="slides/slide3.xml"/><Relationship Id="R5404ea0ff65d4a1e" Type="http://schemas.openxmlformats.org/officeDocument/2006/relationships/slide" Target="slides/slide4.xml"/><Relationship Id="R6b3415c6c9aa4c83" Type="http://schemas.openxmlformats.org/officeDocument/2006/relationships/slide" Target="slides/slide10.xml"/><Relationship Id="R939e35f5255a471c" Type="http://schemas.openxmlformats.org/officeDocument/2006/relationships/tableStyles" Target="tableStyles.xml"/><Relationship Id="Rb32ac7c1b32b4165" Type="http://schemas.openxmlformats.org/officeDocument/2006/relationships/slide" Target="slides/slide6.xml"/><Relationship Id="Rc14e6c4757b747fa" Type="http://schemas.openxmlformats.org/officeDocument/2006/relationships/notesMaster" Target="notesMasters/notesMaster1.xml"/><Relationship Id="Rd7acf43e973e4241" Type="http://schemas.openxmlformats.org/officeDocument/2006/relationships/slide" Target="slides/slide7.xml"/><Relationship Id="Rdaf6ec888fb946f2" Type="http://schemas.openxmlformats.org/officeDocument/2006/relationships/slide" Target="slides/slide9.xml"/><Relationship Id="Rdc0e9893ec9c4cc3" Type="http://schemas.openxmlformats.org/officeDocument/2006/relationships/slide" Target="slides/slide5.xml"/><Relationship Id="Re5f0cd0650304d66" Type="http://schemas.openxmlformats.org/officeDocument/2006/relationships/slideMaster" Target="slideMasters/slideMaster1.xml"/></Relationships>
</file>

<file path=ppt/notesMasters/_rels/notesMaster1.xml.rels><?xml version='1.0' encoding='UTF-8' standalone='yes'?>
<Relationships xmlns="http://schemas.openxmlformats.org/package/2006/relationships"><Relationship Id="R1a60429624c84c97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4e98368275554a54" Type="http://schemas.openxmlformats.org/officeDocument/2006/relationships/notesMaster" Target="../notesMasters/notesMaster1.xml"/><Relationship Id="Rfdf5ededd9a84ada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77475dbfcf374347" Type="http://schemas.openxmlformats.org/officeDocument/2006/relationships/notesMaster" Target="../notesMasters/notesMaster1.xml"/><Relationship Id="R838f1dfe908342ac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31f8711fbc5744a5" Type="http://schemas.openxmlformats.org/officeDocument/2006/relationships/slide" Target="../slides/slide3.xml"/><Relationship Id="R86a6e0aa5daf4d35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ade675139bbf4aeb" Type="http://schemas.openxmlformats.org/officeDocument/2006/relationships/slide" Target="../slides/slide4.xml"/><Relationship Id="Raeb1c6dddf9045fc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7b7ddea478be4ef3" Type="http://schemas.openxmlformats.org/officeDocument/2006/relationships/notesMaster" Target="../notesMasters/notesMaster1.xml"/><Relationship Id="R9915b02279624b98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2defd2eea2294b1b" Type="http://schemas.openxmlformats.org/officeDocument/2006/relationships/notesMaster" Target="../notesMasters/notesMaster1.xml"/><Relationship Id="R3d35ca0069ce4e4a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9bacb9423ecf4106" Type="http://schemas.openxmlformats.org/officeDocument/2006/relationships/notesMaster" Target="../notesMasters/notesMaster1.xml"/><Relationship Id="Raa746ffdcf414cf7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6f1c719be1634d28" Type="http://schemas.openxmlformats.org/officeDocument/2006/relationships/slide" Target="../slides/slide8.xml"/><Relationship Id="Rbde2fdb2dc394676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a75b4afaf32b4c7e" Type="http://schemas.openxmlformats.org/officeDocument/2006/relationships/slide" Target="../slides/slide9.xml"/><Relationship Id="Rb34207e6bf58439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70fbe81646b64415" Type="http://schemas.openxmlformats.org/officeDocument/2006/relationships/slide" Target="../slides/slide10.xml"/><Relationship Id="R7e9c3c10ecd741fc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2461bf676e8143ed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216ac569db3242a2" Type="http://schemas.openxmlformats.org/officeDocument/2006/relationships/slideLayout" Target="../slideLayouts/slideLayout1.xml"/><Relationship Id="R41258e974f4b420f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6ac569db3242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71933987b28e4c76" Type="http://schemas.openxmlformats.org/officeDocument/2006/relationships/notesSlide" Target="../notesSlides/notesSlide1.xml"/><Relationship Id="Raef63963a5eb4343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237b713a26574ca7" Type="http://schemas.openxmlformats.org/officeDocument/2006/relationships/notesSlide" Target="../notesSlides/notesSlide2.xml"/><Relationship Id="Rc18c703a2d0f4c6b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b20c0161f26445ec" Type="http://schemas.openxmlformats.org/officeDocument/2006/relationships/slideLayout" Target="../slideLayouts/slideLayout1.xml"/><Relationship Id="Rea782585c01b4b7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9413ef214e5e4728" Type="http://schemas.openxmlformats.org/officeDocument/2006/relationships/notesSlide" Target="../notesSlides/notesSlide4.xml"/><Relationship Id="Rac11d0b4146949fe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4bb7270a6c934167" Type="http://schemas.openxmlformats.org/officeDocument/2006/relationships/notesSlide" Target="../notesSlides/notesSlide5.xml"/><Relationship Id="R90d570328bc94b72" Type="http://schemas.openxmlformats.org/officeDocument/2006/relationships/slideLayout" Target="../slideLayouts/slideLayout1.xml"/><Relationship Id="Re945cf2fb9994020" Type="http://schemas.openxmlformats.org/officeDocument/2006/relationships/chart" Target="charts/chart1.xml"/></Relationships>
</file>

<file path=ppt/slides/_rels/slide6.xml.rels><?xml version='1.0' encoding='UTF-8' standalone='yes'?>
<Relationships xmlns="http://schemas.openxmlformats.org/package/2006/relationships"><Relationship Id="R4a591d74abf249f2" Type="http://schemas.openxmlformats.org/officeDocument/2006/relationships/slideLayout" Target="../slideLayouts/slideLayout1.xml"/><Relationship Id="Rf27ad67162744dfd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03abe502df9a4958" Type="http://schemas.openxmlformats.org/officeDocument/2006/relationships/notesSlide" Target="../notesSlides/notesSlide7.xml"/><Relationship Id="Rab9900f00883483a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2fd2ab2b89af4986" Type="http://schemas.openxmlformats.org/officeDocument/2006/relationships/slideLayout" Target="../slideLayouts/slideLayout1.xml"/><Relationship Id="Rcb9244169d1b4bd9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01e1d18947054a62" Type="http://schemas.openxmlformats.org/officeDocument/2006/relationships/notesSlide" Target="../notesSlides/notesSlide9.xml"/><Relationship Id="R7814ec5ed5b543e3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6ca55cf7f7534e15" Type="http://schemas.openxmlformats.org/officeDocument/2006/relationships/slideLayout" Target="../slideLayouts/slideLayout1.xml"/><Relationship Id="R7a5ac16845724c18" Type="http://schemas.openxmlformats.org/officeDocument/2006/relationships/notesSlide" Target="../notesSlides/notesSlide10.xml"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标准 EM %</c:v>
          </c:tx>
          <c:spPr>
            <a:solidFill xmlns:a="http://schemas.openxmlformats.org/drawingml/2006/main">
              <a:srgbClr val="6366F1"/>
            </a:solidFill>
          </c:spPr>
          <c:dLbls/>
          <c:cat>
            <c:strLit>
              <c:ptCount val="5"/>
              <c:pt idx="0">
                <c:v>su-memory
(DeepSeek+CausalDAG)</c:v>
              </c:pt>
              <c:pt idx="1">
                <c:v>su-memory
(本地32B GPU)</c:v>
              </c:pt>
              <c:pt idx="2">
                <c:v>su-memory
(本地7B)</c:v>
              </c:pt>
              <c:pt idx="3">
                <c:v>DFGN
(2019)</c:v>
              </c:pt>
              <c:pt idx="4">
                <c:v>Hindsight
(SOTA)</c:v>
              </c:pt>
            </c:strLit>
          </c:cat>
          <c:val>
            <c:numLit>
              <c:formatCode>0"%"</c:formatCode>
              <c:ptCount val="5"/>
              <c:pt idx="0">
                <c:v>62.5</c:v>
              </c:pt>
              <c:pt idx="1">
                <c:v>61.5</c:v>
              </c:pt>
              <c:pt idx="2">
                <c:v>48</c:v>
              </c:pt>
              <c:pt idx="3">
                <c:v>48.2</c:v>
              </c:pt>
              <c:pt idx="4">
                <c:v>70.83</c:v>
              </c:pt>
            </c:numLit>
          </c:val>
        </c:ser>
        <c:dLbls/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4A3B8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334155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161E36"/>
        </a:solidFill>
      </c:spPr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730155-D758-4E06-A8E6-B2539C14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52500" y="-952500"/>
            <a:ext cx="4762500" cy="4762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6366F1">
                  <a:alpha val="12000"/>
                </a:srgbClr>
              </a:gs>
              <a:gs pos="70000">
                <a:srgbClr val="6366F1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14EBF-E325-4074-A36A-6C414F4B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5715000" cy="5715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06B6D4">
                  <a:alpha val="8000"/>
                </a:srgbClr>
              </a:gs>
              <a:gs pos="70000">
                <a:srgbClr val="06B6D4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BE3E0-1F37-4004-9F9F-9026FDAD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6B6D4"/>
                </a:solidFill>
              </a:defRPr>
            </a:pPr>
            <a:r>
              <a:rPr sz="1050" b="1">
                <a:solidFill>
                  <a:srgbClr val="06B6D4"/>
                </a:solidFill>
              </a:rPr>
              <a:t>SEMANTIC MEMORY ENGINE  ·  v4.0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7AC2E-91BF-44B9-B4EB-4C1F842B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857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F8FAFC"/>
                </a:solidFill>
              </a:defRPr>
            </a:pPr>
            <a:r>
              <a:rPr sz="6000" b="1">
                <a:solidFill>
                  <a:srgbClr val="F8FAFC"/>
                </a:solidFill>
              </a:rPr>
              <a:t>su-memory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9DC987-D3F9-452B-BD85-2AC9C6E9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6366F1"/>
                </a:solidFill>
              </a:defRPr>
            </a:pPr>
            <a:r>
              <a:rPr sz="2850" b="1">
                <a:solidFill>
                  <a:srgbClr val="6366F1"/>
                </a:solidFill>
              </a:rPr>
              <a:t>给 AI 一个不会忘的大脑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FBA6F6-69ED-4589-934E-E583541A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4A3B8"/>
                </a:solidFill>
              </a:defRPr>
            </a:pPr>
            <a:r>
              <a:rPr sz="1500" b="0">
                <a:solidFill>
                  <a:srgbClr val="94A3B8"/>
                </a:solidFill>
              </a:rPr>
              <a:t>基于因果推理与时序感知的语义记忆引擎 SDK</a:t>
            </a:r>
          </a:p>
          <a:p xmlns:a="http://schemas.openxmlformats.org/drawingml/2006/main">
            <a:pPr>
              <a:defRPr sz="1500" b="0">
                <a:solidFill>
                  <a:srgbClr val="94A3B8"/>
                </a:solidFill>
              </a:defRPr>
            </a:pPr>
            <a:r>
              <a:rPr sz="1500" b="0">
                <a:solidFill>
                  <a:srgbClr val="94A3B8"/>
                </a:solidFill>
              </a:rPr>
              <a:t>让大语言模型拥有持久记忆与可解释推理能力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DB075E-FA1E-4ECB-ACC3-1E9E6AC1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Apache-2.0 开源  ·  pip install su-memory  ·  本地优先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97C082-29B2-4BF1-B9F3-1E34F12C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24000"/>
            <a:ext cx="30480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61E36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C18800-642E-43B9-8E5C-57916D02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52600"/>
            <a:ext cx="259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6B6D4"/>
                </a:solidFill>
              </a:defRPr>
            </a:pPr>
            <a:r>
              <a:rPr sz="975" b="1">
                <a:solidFill>
                  <a:srgbClr val="06B6D4"/>
                </a:solidFill>
              </a:rPr>
              <a:t>项目实证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10EB6D-D062-4C21-99D3-BF2FC653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145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8FAFC"/>
                </a:solidFill>
              </a:defRPr>
            </a:pPr>
            <a:r>
              <a:rPr sz="2100" b="1">
                <a:solidFill>
                  <a:srgbClr val="F8FAFC"/>
                </a:solidFill>
              </a:rPr>
              <a:t>61,487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3757F8-7EC5-487C-8B13-421075B2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622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行核心代码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B4D951-033D-4053-964A-AD84BD69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717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8FAFC"/>
                </a:solidFill>
              </a:defRPr>
            </a:pPr>
            <a:r>
              <a:rPr sz="2100" b="1">
                <a:solidFill>
                  <a:srgbClr val="F8FAFC"/>
                </a:solidFill>
              </a:rPr>
              <a:t>19,354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DA9D5F-4CCA-4F60-9022-09048C2C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194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行测试代码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698DFC-F1A5-43B6-BB7C-B3D54F75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289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8FAFC"/>
                </a:solidFill>
              </a:defRPr>
            </a:pPr>
            <a:r>
              <a:rPr sz="2100" b="1">
                <a:solidFill>
                  <a:srgbClr val="F8FAFC"/>
                </a:solidFill>
              </a:rPr>
              <a:t>42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71B89A-8A3E-43D3-A9C1-26C11BD4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766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结构化错误码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623CA6-45BD-4BE9-AE88-250066A0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861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8FAFC"/>
                </a:solidFill>
              </a:defRPr>
            </a:pPr>
            <a:r>
              <a:rPr sz="2100" b="1">
                <a:solidFill>
                  <a:srgbClr val="F8FAFC"/>
                </a:solidFill>
              </a:rPr>
              <a:t>v4.0.1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BDD033-B092-4FCA-87D8-9878D88A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338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当前版本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908463-C5E7-4A83-968B-9A41C31F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融资路演  ·  2026</a:t>
            </a:r>
          </a:p>
        </p:txBody>
      </p:sp>
    </p:spTree>
    <p:extLst>
      <p:ext uri="{BB962C8B-B14F-4D97-AF65-F5344CB8AC3E}">
        <p14:creationId xmlns:p14="http://schemas.microsoft.com/office/powerpoint/2010/main" val="5203032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49389E-167A-4E1B-ADB7-F4AD8378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8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48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1C9FD6-5411-467A-A6DA-014486D3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C4899"/>
                </a:solidFill>
              </a:defRPr>
            </a:pPr>
            <a:r>
              <a:rPr sz="975" b="1">
                <a:solidFill>
                  <a:srgbClr val="EC4899"/>
                </a:solidFill>
              </a:rPr>
              <a:t>THE PROBLEM  ·  行业痛点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868C19-EC52-47A5-A87F-C0AFCCDF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AFC"/>
                </a:solidFill>
              </a:defRPr>
            </a:pPr>
            <a:r>
              <a:rPr sz="2700" b="1">
                <a:solidFill>
                  <a:srgbClr val="F8FAFC"/>
                </a:solidFill>
              </a:rPr>
              <a:t>LLM 天生没有记忆，这是 AI 落地的核心瓶颈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CCDD0A-84CB-4A87-BF79-7E7F152D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2400300" cy="26670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61E36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F19766-37D4-4E8D-A0AD-BE4F62A9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4899">
              <a:alpha val="13333"/>
            </a:srgbClr>
          </a:solidFill>
          <a:ln xmlns:a="http://schemas.openxmlformats.org/drawingml/2006/main" w="14288">
            <a:solidFill>
              <a:srgbClr val="EC489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C8308-25EC-49F8-ACD4-DF45D871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C4899"/>
                </a:solidFill>
              </a:defRPr>
            </a:pPr>
            <a:r>
              <a:rPr sz="1650" b="0">
                <a:solidFill>
                  <a:srgbClr val="EC4899"/>
                </a:solidFill>
              </a:rPr>
              <a:t>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29A9B-4DEC-46A1-B0D9-707819A3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记忆缺失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CA0F9-FCEF-44D7-B9A3-16AB652C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1943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对话结束即遗忘，无法积累用户画像</a:t>
            </a:r>
          </a:p>
          <a:p xmlns:a="http://schemas.openxmlformats.org/drawingml/2006/main">
            <a:pPr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Agent 跨会话上下文全部丢失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281B94-3516-4578-AF45-84DAC9A7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05000"/>
            <a:ext cx="2400300" cy="26670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61E36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2D7412-46E3-4CFA-A9E0-08DDAA4D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3360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9E0B">
              <a:alpha val="13333"/>
            </a:srgbClr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229D13-E7DB-4288-B45A-B1629117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336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59E0B"/>
                </a:solidFill>
              </a:defRPr>
            </a:pPr>
            <a:r>
              <a:rPr sz="1650" b="0">
                <a:solidFill>
                  <a:srgbClr val="F59E0B"/>
                </a:solidFill>
              </a:rPr>
              <a:t>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E39BD2-3F02-4157-8611-4E28BF37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8130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结果不可解释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AECE1A-BD1C-4ECE-B195-C45E6446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62300"/>
            <a:ext cx="1943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检索结果是黑箱</a:t>
            </a:r>
          </a:p>
          <a:p xmlns:a="http://schemas.openxmlformats.org/drawingml/2006/main">
            <a:pPr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用户无法知道「为什么是这条建议」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687E03-84C9-44CD-9665-47FF3B27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05000"/>
            <a:ext cx="2400300" cy="26670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61E36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0884EB-70A7-4A8F-ADDA-2A219597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6B6D4">
              <a:alpha val="13333"/>
            </a:srgbClr>
          </a:solidFill>
          <a:ln xmlns:a="http://schemas.openxmlformats.org/drawingml/2006/main" w="14288">
            <a:solidFill>
              <a:srgbClr val="06B6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DE07D6-937A-429B-8584-7910B97D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6B6D4"/>
                </a:solidFill>
              </a:defRPr>
            </a:pPr>
            <a:r>
              <a:rPr sz="1650" b="0">
                <a:solidFill>
                  <a:srgbClr val="06B6D4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89C4CF-1ADF-415F-BBD0-8BA03CD8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8130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缺乏因果推理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2647E1-1E6F-43B5-A5BE-8B795104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62300"/>
            <a:ext cx="1943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只能做相似度匹配</a:t>
            </a:r>
          </a:p>
          <a:p xmlns:a="http://schemas.openxmlformats.org/drawingml/2006/main">
            <a:pPr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无法理解事件之间的因果关系链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6CA2AE-F423-424C-B488-01289D23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0"/>
            <a:ext cx="2400300" cy="26670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61E36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0891D4-5D45-48B9-80A5-F797FF2A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3360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6366F1">
              <a:alpha val="13333"/>
            </a:srgbClr>
          </a:solidFill>
          <a:ln xmlns:a="http://schemas.openxmlformats.org/drawingml/2006/main" w="14288">
            <a:solidFill>
              <a:srgbClr val="6366F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AD3D16-9C27-49E2-8ABD-CCEE1981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336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366F1"/>
                </a:solidFill>
              </a:defRPr>
            </a:pPr>
            <a:r>
              <a:rPr sz="1650" b="0">
                <a:solidFill>
                  <a:srgbClr val="6366F1"/>
                </a:solidFill>
              </a:rPr>
              <a:t>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38B01B-5E8C-4AD0-9806-D30F5890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8130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数据隐私风险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573D9B-F808-4A00-8EC2-F0B8E773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62300"/>
            <a:ext cx="1943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主流记忆方案依赖云端</a:t>
            </a:r>
          </a:p>
          <a:p xmlns:a="http://schemas.openxmlformats.org/drawingml/2006/main">
            <a:pPr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金融 / 医疗 / 政务数据无法出域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408CEC-88F2-4541-BF50-543480E4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B981"/>
                </a:solidFill>
              </a:defRPr>
            </a:pPr>
            <a:r>
              <a:rPr sz="1350" b="1">
                <a:solidFill>
                  <a:srgbClr val="10B981"/>
                </a:solidFill>
              </a:rPr>
              <a:t>→ Agent 时代爆发，每个 Agent 都需要记忆层。这是 LLM 之上的必备基础设施。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90605B-1C5B-4A8F-BD26-8128B3E7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su-memory SDK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C04218-8632-4DCD-9873-622E9AFA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4579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2 / 10</a:t>
            </a:r>
          </a:p>
        </p:txBody>
      </p:sp>
    </p:spTree>
    <p:extLst>
      <p:ext uri="{BB962C8B-B14F-4D97-AF65-F5344CB8AC3E}">
        <p14:creationId xmlns:p14="http://schemas.microsoft.com/office/powerpoint/2010/main" val="17179800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26954B-1B6A-4058-BFE3-EB852E62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8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D5E257-3672-4173-AEA9-02003F71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B981"/>
                </a:solidFill>
              </a:defRPr>
            </a:pPr>
            <a:r>
              <a:rPr sz="975" b="1">
                <a:solidFill>
                  <a:srgbClr val="10B981"/>
                </a:solidFill>
              </a:rPr>
              <a:t>THE SOLUTION  ·  我们的方案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899A53-1B22-4F2C-8B33-552F2979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AFC"/>
                </a:solidFill>
              </a:defRPr>
            </a:pPr>
            <a:r>
              <a:rPr sz="2700" b="1">
                <a:solidFill>
                  <a:srgbClr val="F8FAFC"/>
                </a:solidFill>
              </a:rPr>
              <a:t>不是又一个向量数据库，而是 AI 的记忆层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5E7DE-A4A3-45D9-AD21-68A95A11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95300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61E36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10A4FE-417E-42BF-8ABC-6A90F6EE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6B6D4"/>
                </a:solidFill>
              </a:defRPr>
            </a:pPr>
            <a:r>
              <a:rPr sz="1050" b="1">
                <a:solidFill>
                  <a:srgbClr val="06B6D4"/>
                </a:solidFill>
              </a:rPr>
              <a:t>记忆层 ≠ 向量数据库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361B59-31A6-4402-A475-83BE3012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4495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4A3B8"/>
                </a:solidFill>
              </a:defRPr>
            </a:pPr>
            <a:r>
              <a:rPr sz="1350" b="0">
                <a:solidFill>
                  <a:srgbClr val="94A3B8"/>
                </a:solidFill>
              </a:rPr>
              <a:t>向量数据库只做存取，</a:t>
            </a:r>
          </a:p>
          <a:p xmlns:a="http://schemas.openxmlformats.org/drawingml/2006/main">
            <a:pPr>
              <a:defRPr sz="1350" b="0">
                <a:solidFill>
                  <a:srgbClr val="94A3B8"/>
                </a:solidFill>
              </a:defRPr>
            </a:pPr>
            <a:r>
              <a:rPr sz="1350" b="0">
                <a:solidFill>
                  <a:srgbClr val="94A3B8"/>
                </a:solidFill>
              </a:rPr>
              <a:t>su-memory 在 LLM 之上提供完整记忆能力：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445223-3BF3-4F2C-A5A2-3F4B903B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66F1"/>
                </a:solidFill>
              </a:defRPr>
            </a:pPr>
            <a:r>
              <a:rPr sz="1350" b="0">
                <a:solidFill>
                  <a:srgbClr val="6366F1"/>
                </a:solidFill>
              </a:rPr>
              <a:t>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BA8CB3-969A-4125-8E6D-A6B0A089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290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向量语义检索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81A8D2-38F3-40E2-A6F0-7E5071CE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FAISS HNSW + bge-m3 原生 batch，支持中英双语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33A31D-0ACA-4CB0-9286-FE9DB013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66F1"/>
                </a:solidFill>
              </a:defRPr>
            </a:pPr>
            <a:r>
              <a:rPr sz="1350" b="0">
                <a:solidFill>
                  <a:srgbClr val="6366F1"/>
                </a:solidFill>
              </a:rPr>
              <a:t>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6D1EE7-FFE4-4598-B555-9A8FFF2A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243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因果推理引擎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C1C83F-62E3-44E9-8C29-51EADDE3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338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MemoryGraph 图谱 + 因果 DAG，理解事件因果链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2EBB66-102E-41A9-8ECA-C98B234F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96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66F1"/>
                </a:solidFill>
              </a:defRPr>
            </a:pPr>
            <a:r>
              <a:rPr sz="1350" b="0">
                <a:solidFill>
                  <a:srgbClr val="6366F1"/>
                </a:solidFill>
              </a:rPr>
              <a:t>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DED02D-B2A4-44A6-873E-7D7E5D20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196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时序感知系统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2DCA8E-981A-4CE8-B64B-1B84FC4C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291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时序编码 + 指数衰减，记忆有时间维度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D189B5-1F65-48E2-B3A1-1430A8A4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66F1"/>
                </a:solidFill>
              </a:defRPr>
            </a:pPr>
            <a:r>
              <a:rPr sz="1350" b="0">
                <a:solidFill>
                  <a:srgbClr val="6366F1"/>
                </a:solidFill>
              </a:rPr>
              <a:t>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E514E2-82D3-4590-B4EF-FB55AC81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149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可解释推理链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C239ED-D6CD-417A-A0FE-C47A385A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244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推理路径可视化，置信度因素分解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AFE090-0544-4E54-8F53-47A7050C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05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6B6D4"/>
                </a:solidFill>
              </a:defRPr>
            </a:pPr>
            <a:r>
              <a:rPr sz="1050" b="1">
                <a:solidFill>
                  <a:srgbClr val="06B6D4"/>
                </a:solidFill>
              </a:rPr>
              <a:t>技术架构定位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E0D7AC-09C2-470C-89CA-54615F9D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86000"/>
            <a:ext cx="3810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0B981">
              <a:alpha val="10196"/>
            </a:srgbClr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914BC5-5ABA-4C43-A32A-25B4BD9A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62200"/>
            <a:ext cx="350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AI 应用 / Agent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6AEB01-CEDA-405A-A478-967A9548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90800"/>
            <a:ext cx="350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智能助手 · 客服 · 知识管理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141574-7BFA-4C92-9817-2A6DA71F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4381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6366F1">
              <a:alpha val="10196"/>
            </a:srgbClr>
          </a:solidFill>
          <a:ln xmlns:a="http://schemas.openxmlformats.org/drawingml/2006/main" w="14288">
            <a:solidFill>
              <a:srgbClr val="6366F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68CCB1-7631-47FC-B6B0-B0250186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24200"/>
            <a:ext cx="407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su-memory 记忆层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3C0863-AFA9-45A9-BBE6-E175124D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52800"/>
            <a:ext cx="407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因果推理 · 时序 · 可解释  ← 我们在这里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30BC6C-BC87-47B5-8956-1A8BA49B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10000"/>
            <a:ext cx="3810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6B6D4">
              <a:alpha val="10196"/>
            </a:srgbClr>
          </a:solidFill>
          <a:ln xmlns:a="http://schemas.openxmlformats.org/drawingml/2006/main" w="14288">
            <a:solidFill>
              <a:srgbClr val="06B6D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3B3202-7436-4063-80DB-D07B69E8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86200"/>
            <a:ext cx="350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Embedding + 向量检索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FA9229-72F3-41E0-A37D-CDAEBACC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14800"/>
            <a:ext cx="350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bge-m3 · FAISS · 混合召回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9E8DAA-2731-4C49-88A8-375649DE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72000"/>
            <a:ext cx="3238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94A3B8">
              <a:alpha val="10196"/>
            </a:srgbClr>
          </a:solidFill>
          <a:ln xmlns:a="http://schemas.openxmlformats.org/drawingml/2006/main" w="14288">
            <a:solidFill>
              <a:srgbClr val="94A3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EFD18E-D38B-4417-A157-35DF358D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48200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LLM 基础模型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92D130-6834-4EF1-957A-71F519BC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876800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GPT · DeepSeek · Qwen · 本地模型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E7BE70-29CB-4956-A342-102F2212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su-memory SDK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305BC7-D5C6-4F2A-8055-A6AF0EF0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4579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3 / 10</a:t>
            </a:r>
          </a:p>
        </p:txBody>
      </p:sp>
    </p:spTree>
    <p:extLst>
      <p:ext uri="{BB962C8B-B14F-4D97-AF65-F5344CB8AC3E}">
        <p14:creationId xmlns:p14="http://schemas.microsoft.com/office/powerpoint/2010/main" val="16635420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6D5E9B-F3F1-4E17-9B51-D6C30C88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8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366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C26711-32D3-425F-ACA2-E8FC2510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366F1"/>
                </a:solidFill>
              </a:defRPr>
            </a:pPr>
            <a:r>
              <a:rPr sz="975" b="1">
                <a:solidFill>
                  <a:srgbClr val="6366F1"/>
                </a:solidFill>
              </a:rPr>
              <a:t>ADVANTAGE 01  ·  技术壁垒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113D5E-67DD-47BB-A155-603D4B5B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自研 algebra 数学理论层 — 别人抄不走的底座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54A2B-0EE6-418C-8D55-A03BFA42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4A3B8"/>
                </a:solidFill>
              </a:defRPr>
            </a:pPr>
            <a:r>
              <a:rPr sz="1275" b="0">
                <a:solidFill>
                  <a:srgbClr val="94A3B8"/>
                </a:solidFill>
              </a:rPr>
              <a:t>竞品停留在「embed → retrieve」工程层，su-memory 有可发表论文的底层理论框架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09BF4C-7355-49E6-86FB-B2F00783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33147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61E36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A3C9DC-196F-448B-9A01-01E9E523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81225"/>
            <a:ext cx="293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6B6D4"/>
                </a:solidFill>
              </a:defRPr>
            </a:pPr>
            <a:r>
              <a:rPr sz="1275" b="1">
                <a:solidFill>
                  <a:srgbClr val="06B6D4"/>
                </a:solidFill>
              </a:rPr>
              <a:t>GF(2)³ 八卦空间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850B21-F0B3-4821-B642-44D68098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有限域代数建模语义关系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BD8196-8B07-4B42-B6E6-F7699E93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76525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366F1"/>
                </a:solidFill>
              </a:defRPr>
            </a:pPr>
            <a:r>
              <a:rPr sz="900" b="1">
                <a:solidFill>
                  <a:srgbClr val="6366F1"/>
                </a:solidFill>
              </a:rPr>
              <a:t>basis.py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4D58CB-25F7-4802-B6F3-17F0BB59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33147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61E36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75B667-35DC-4CB3-96CB-2D002E0E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81225"/>
            <a:ext cx="293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6B6D4"/>
                </a:solidFill>
              </a:defRPr>
            </a:pPr>
            <a:r>
              <a:rPr sz="1275" b="1">
                <a:solidFill>
                  <a:srgbClr val="06B6D4"/>
                </a:solidFill>
              </a:rPr>
              <a:t>8⊗8 张量分解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9D4543-78D6-4AEC-A949-ED30653F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28875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六十四卦张量积结构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86BFD3-61F4-4A22-B83A-913431BD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76525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366F1"/>
                </a:solidFill>
              </a:defRPr>
            </a:pPr>
            <a:r>
              <a:rPr sz="900" b="1">
                <a:solidFill>
                  <a:srgbClr val="6366F1"/>
                </a:solidFill>
              </a:rPr>
              <a:t>tensor.py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5085A8-C898-4CE2-8CFF-2B9819EF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47875"/>
            <a:ext cx="33147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61E36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57A5CF-A359-4111-8901-55298B49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81225"/>
            <a:ext cx="293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6B6D4"/>
                </a:solidFill>
              </a:defRPr>
            </a:pPr>
            <a:r>
              <a:rPr sz="1275" b="1">
                <a:solidFill>
                  <a:srgbClr val="06B6D4"/>
                </a:solidFill>
              </a:rPr>
              <a:t>PCA 投影 R^{8×d}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CB1CCB-5345-449D-BF05-4AB080B1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28875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降维投影保证检索效率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356162-8DE2-4BCC-8794-ABDC3163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76525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366F1"/>
                </a:solidFill>
              </a:defRPr>
            </a:pPr>
            <a:r>
              <a:rPr sz="900" b="1">
                <a:solidFill>
                  <a:srgbClr val="6366F1"/>
                </a:solidFill>
              </a:rPr>
              <a:t>projector.py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7B6195-055E-4AA1-9C8C-FBC1039A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33147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61E36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D86DB3-FDEA-4F5B-A0EA-EDC052AA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24225"/>
            <a:ext cx="293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6B6D4"/>
                </a:solidFill>
              </a:defRPr>
            </a:pPr>
            <a:r>
              <a:rPr sz="1275" b="1">
                <a:solidFill>
                  <a:srgbClr val="06B6D4"/>
                </a:solidFill>
              </a:rPr>
              <a:t>5×5 能量耦合矩阵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12BE3C-4568-4216-937E-B198EFF5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元素关联性数学建模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3D0B58-6120-4A0D-9D4E-805E1A12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366F1"/>
                </a:solidFill>
              </a:defRPr>
            </a:pPr>
            <a:r>
              <a:rPr sz="900" b="1">
                <a:solidFill>
                  <a:srgbClr val="6366F1"/>
                </a:solidFill>
              </a:rPr>
              <a:t>affinity.py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7FEB2F-53F8-45D2-A0DF-5DC94405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90875"/>
            <a:ext cx="33147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61E36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7BA217-3BCF-44BA-8B9A-FEA834D8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24225"/>
            <a:ext cx="293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6B6D4"/>
                </a:solidFill>
              </a:defRPr>
            </a:pPr>
            <a:r>
              <a:rPr sz="1275" b="1">
                <a:solidFill>
                  <a:srgbClr val="06B6D4"/>
                </a:solidFill>
              </a:rPr>
              <a:t>Z₆₀ 时序环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36D488-DA97-47F0-ADEE-BDC245FD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时间周期性编码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3CDCC4-2452-4CBE-ACBD-2EF5EF85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9525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366F1"/>
                </a:solidFill>
              </a:defRPr>
            </a:pPr>
            <a:r>
              <a:rPr sz="900" b="1">
                <a:solidFill>
                  <a:srgbClr val="6366F1"/>
                </a:solidFill>
              </a:rPr>
              <a:t>temporal.py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E72BFA-EB80-485A-8DF1-3CB1C387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90875"/>
            <a:ext cx="33147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61E36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A1B35C-B12C-4D1E-9B65-801673EA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24225"/>
            <a:ext cx="293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6B6D4"/>
                </a:solidFill>
              </a:defRPr>
            </a:pPr>
            <a:r>
              <a:rPr sz="1275" b="1">
                <a:solidFill>
                  <a:srgbClr val="06B6D4"/>
                </a:solidFill>
              </a:rPr>
              <a:t>因果 DAG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69C2DE-1DF5-4A97-95C2-5E7EFE45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71875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有向无环图因果推理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65E96F-58E5-4013-B96F-6BB75218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19525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366F1"/>
                </a:solidFill>
              </a:defRPr>
            </a:pPr>
            <a:r>
              <a:rPr sz="900" b="1">
                <a:solidFill>
                  <a:srgbClr val="6366F1"/>
                </a:solidFill>
              </a:rPr>
              <a:t>causal_graph.py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E353A3-2B23-4C7D-BA11-426C8BD9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0820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61E36"/>
          </a:solidFill>
          <a:ln xmlns:a="http://schemas.openxmlformats.org/drawingml/2006/main" w="14288">
            <a:solidFill>
              <a:srgbClr val="6366F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53AA5E-2A1D-43FB-A97C-5AC95442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95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B981"/>
                </a:solidFill>
              </a:defRPr>
            </a:pPr>
            <a:r>
              <a:rPr sz="1950" b="1">
                <a:solidFill>
                  <a:srgbClr val="10B981"/>
                </a:solidFill>
              </a:rPr>
              <a:t>1,756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A9A47E-E3FA-4474-B23A-2D3221CD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8FAFC"/>
                </a:solidFill>
              </a:defRPr>
            </a:pPr>
            <a:r>
              <a:rPr sz="900" b="0">
                <a:solidFill>
                  <a:srgbClr val="F8FAFC"/>
                </a:solidFill>
              </a:rPr>
              <a:t>行纯数学代码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B5CAA7-EB79-4431-A4A4-AFB36848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src/su_memory/algebra/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5F72FA-504B-4402-9AC2-B89A9D2F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495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B981"/>
                </a:solidFill>
              </a:defRPr>
            </a:pPr>
            <a:r>
              <a:rPr sz="1950" b="1">
                <a:solidFill>
                  <a:srgbClr val="10B981"/>
                </a:solidFill>
              </a:rPr>
              <a:t>2,550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D199D0-0E9F-4415-AAEA-0ACFF133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7815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8FAFC"/>
                </a:solidFill>
              </a:defRPr>
            </a:pPr>
            <a:r>
              <a:rPr sz="900" b="0">
                <a:solidFill>
                  <a:srgbClr val="F8FAFC"/>
                </a:solidFill>
              </a:rPr>
              <a:t>行单测验证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B21B9A-F7CD-46D8-AC37-30D4584F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93395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8 个独立测试模块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7FA4F4-56DF-4860-9703-202CB5F4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95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B981"/>
                </a:solidFill>
              </a:defRPr>
            </a:pPr>
            <a:r>
              <a:rPr sz="1950" b="1">
                <a:solidFill>
                  <a:srgbClr val="10B981"/>
                </a:solidFill>
              </a:rPr>
              <a:t>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3DCEC2-17DF-4ACD-B49C-3C3EBCA0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815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8FAFC"/>
                </a:solidFill>
              </a:defRPr>
            </a:pPr>
            <a:r>
              <a:rPr sz="900" b="0">
                <a:solidFill>
                  <a:srgbClr val="F8FAFC"/>
                </a:solidFill>
              </a:rPr>
              <a:t>数学对象模块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2A1D19-CD34-418E-A989-DE7AD851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3395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线性代数 / 概率图 / 群论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DABC38-88D9-4E09-ACEC-AA599E49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95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B981"/>
                </a:solidFill>
              </a:defRPr>
            </a:pPr>
            <a:r>
              <a:rPr sz="1950" b="1">
                <a:solidFill>
                  <a:srgbClr val="10B981"/>
                </a:solidFill>
              </a:rPr>
              <a:t>138+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29162E-680A-47CF-9E2C-6878E838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7815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8FAFC"/>
                </a:solidFill>
              </a:defRPr>
            </a:pPr>
            <a:r>
              <a:rPr sz="900" b="0">
                <a:solidFill>
                  <a:srgbClr val="F8FAFC"/>
                </a:solidFill>
              </a:rPr>
              <a:t>独立单元测试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7B3CDC-F172-44F9-824C-9DA7315E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93395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验证数学正确性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0D4A334-78E8-453F-8754-6B21EFFF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366F1"/>
                </a:solidFill>
              </a:defRPr>
            </a:pPr>
            <a:r>
              <a:rPr sz="1200" b="1">
                <a:solidFill>
                  <a:srgbClr val="6366F1"/>
                </a:solidFill>
              </a:rPr>
              <a:t>→ 这是专利和学术论文级别的技术壁垒，也是「为什么别人抄不走」的核心答案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F1BC9FF-4387-412B-8EE4-8D8AA66D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su-memory SDK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195D091-4146-4B42-A093-00FDE954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4579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4 / 10</a:t>
            </a:r>
          </a:p>
        </p:txBody>
      </p:sp>
    </p:spTree>
    <p:extLst>
      <p:ext uri="{BB962C8B-B14F-4D97-AF65-F5344CB8AC3E}">
        <p14:creationId xmlns:p14="http://schemas.microsoft.com/office/powerpoint/2010/main" val="1906358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394FC1-21EA-4CEA-A32C-71E5486C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8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686E3F-BEC0-4262-9F8B-BA962540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B981"/>
                </a:solidFill>
              </a:defRPr>
            </a:pPr>
            <a:r>
              <a:rPr sz="975" b="1">
                <a:solidFill>
                  <a:srgbClr val="10B981"/>
                </a:solidFill>
              </a:rPr>
              <a:t>ADVANTAGE 02  ·  性能验证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513A64-69D0-420D-B55B-59D124B6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诚实可复现的 SOTA 级性能数据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F78B4F-6BB7-49AC-85E0-A718CA97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HotpotQA 多跳问答基准 · 官方 validation 200 题 · 全 hard level · 标准严格 EM 口径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F9042D-DD72-4327-BB05-7AAF1E20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9055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61E36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7D84B4-F447-4240-BDBE-ED626AFB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544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B6D4"/>
                </a:solidFill>
              </a:defRPr>
            </a:pPr>
            <a:r>
              <a:rPr sz="1125" b="1">
                <a:solidFill>
                  <a:srgbClr val="06B6D4"/>
                </a:solidFill>
              </a:rPr>
              <a:t>HotpotQA 标准 EM 对比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914400" y="2438400"/>
          <a:ext xmlns:a="http://schemas.openxmlformats.org/drawingml/2006/main" cx="5448300" cy="2819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945cf2fb9994020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5D3233-F9A4-4C82-AB36-7FA33176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0250"/>
            <a:ext cx="46482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61E36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B05540-B861-4716-80B0-B15CD34C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145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B6D4"/>
                </a:solidFill>
              </a:defRPr>
            </a:pPr>
            <a:r>
              <a:rPr sz="1125" b="1">
                <a:solidFill>
                  <a:srgbClr val="06B6D4"/>
                </a:solidFill>
              </a:rPr>
              <a:t>关键结论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54CFF5-B7FC-40B1-A5A1-787423A9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955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B981"/>
                </a:solidFill>
              </a:defRPr>
            </a:pPr>
            <a:r>
              <a:rPr sz="2250" b="1">
                <a:solidFill>
                  <a:srgbClr val="10B981"/>
                </a:solidFill>
              </a:rPr>
              <a:t>62.5%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3E89ED-382B-41A0-BE48-47871EA2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003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标准 EM（最强配置）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4D905D-E794-4EA9-B286-4DE55E83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718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真实超越 DFGN(48.2%) 约 14 个百分点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2E3A9D-0D86-4FB5-A0A2-5B4F6612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813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B981"/>
                </a:solidFill>
              </a:defRPr>
            </a:pPr>
            <a:r>
              <a:rPr sz="2250" b="1">
                <a:solidFill>
                  <a:srgbClr val="10B981"/>
                </a:solidFill>
              </a:rPr>
              <a:t>73.5%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F186A7-04BA-4FAF-B426-4040989F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861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comparison 题型 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0C234A-4673-43CA-8055-663AAF66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576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已超 Hindsight SOTA(70.83%)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9AA61D-58B1-4568-BBDF-48454667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671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366F1"/>
                </a:solidFill>
              </a:defRPr>
            </a:pPr>
            <a:r>
              <a:rPr sz="2250" b="1">
                <a:solidFill>
                  <a:srgbClr val="6366F1"/>
                </a:solidFill>
              </a:rPr>
              <a:t>90%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9C5AC1-9A85-487D-8B3A-48C00707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719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CausalDAG 桥接发现率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D914F9-AC74-44FD-B1A5-7517C6CA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3434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vs 传统 title 匹配仅 44%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EB3BE1-1888-4FC1-A21D-1EE32B75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529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6B6D4"/>
                </a:solidFill>
              </a:defRPr>
            </a:pPr>
            <a:r>
              <a:rPr sz="2250" b="1">
                <a:solidFill>
                  <a:srgbClr val="06B6D4"/>
                </a:solidFill>
              </a:rPr>
              <a:t>100%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84F2ED-2F1A-43AD-94D4-AB1FCBB0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577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可复现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3982B7-EE2A-4DB2-80D6-091FF3D1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292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python benchmarks/hotpotqa_full_eval.py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E45E74-FE07-4E45-9A77-AAB09B6D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9E0B"/>
                </a:solidFill>
              </a:defRPr>
            </a:pPr>
            <a:r>
              <a:rPr sz="1050" b="1">
                <a:solidFill>
                  <a:srgbClr val="F59E0B"/>
                </a:solidFill>
              </a:rPr>
              <a:t>→ 项目主动删除了历史虚标数据（82.5%/78%/58%），在 AI 泡沫期只报真实可复现数字 — 这本身就是稀缺的信任资产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C90B3B-7E7C-4203-A5F1-02163543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su-memory SDK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512F95-7106-4E28-9D48-1A9C095A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4579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5 / 10</a:t>
            </a:r>
          </a:p>
        </p:txBody>
      </p:sp>
    </p:spTree>
    <p:extLst>
      <p:ext uri="{BB962C8B-B14F-4D97-AF65-F5344CB8AC3E}">
        <p14:creationId xmlns:p14="http://schemas.microsoft.com/office/powerpoint/2010/main" val="755829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4B0DB6-0206-4EE1-9639-939230E3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8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E2BB26-0468-44FE-A0BB-86D02869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6B6D4"/>
                </a:solidFill>
              </a:defRPr>
            </a:pPr>
            <a:r>
              <a:rPr sz="975" b="1">
                <a:solidFill>
                  <a:srgbClr val="06B6D4"/>
                </a:solidFill>
              </a:rPr>
              <a:t>ADVANTAGE 03  ·  工程成熟度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428F1-6E40-4FE9-83DB-7E763B18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8FAFC"/>
                </a:solidFill>
              </a:defRPr>
            </a:pPr>
            <a:r>
              <a:rPr sz="2400" b="1">
                <a:solidFill>
                  <a:srgbClr val="F8FAFC"/>
                </a:solidFill>
              </a:rPr>
              <a:t>7 组件多级降级矩阵 — 核心功能任何条件下可用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69828-F42A-4A9D-90C7-3EEEA89B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4A3B8"/>
                </a:solidFill>
              </a:defRPr>
            </a:pPr>
            <a:r>
              <a:rPr sz="1200" b="0">
                <a:solidFill>
                  <a:srgbClr val="94A3B8"/>
                </a:solidFill>
              </a:rPr>
              <a:t>竞品 API 挂了就全瘫，su-memory 零依赖也能跑 — 对金融 / 医疗 / 政务客户是刚需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1B81FE-422B-4EFC-AD8E-ADA9E7BE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61E36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8DD42-3A81-40F2-AF35-92DC1A2F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6B6D4"/>
                </a:solidFill>
              </a:defRPr>
            </a:pPr>
            <a:r>
              <a:rPr sz="975" b="1">
                <a:solidFill>
                  <a:srgbClr val="06B6D4"/>
                </a:solidFill>
              </a:rPr>
              <a:t>组件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39621E-6BF6-46E2-A019-9BD2CC8D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145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主路径  →  降级 1  →  降级 2  →  兜底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DEDA71-1623-414A-8406-D9DF6E1E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103632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AB5499-4643-497B-8CB4-AADE95DF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366F1"/>
                </a:solidFill>
              </a:defRPr>
            </a:pPr>
            <a:r>
              <a:rPr sz="1125" b="1">
                <a:solidFill>
                  <a:srgbClr val="6366F1"/>
                </a:solidFill>
              </a:rPr>
              <a:t>嵌入层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486241-780E-469D-9FD6-1C6F0425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5527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9A6D59-1ADD-42F0-B08F-46DC76BF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71750"/>
            <a:ext cx="1809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845"/>
          </a:solidFill>
          <a:ln xmlns:a="http://schemas.openxmlformats.org/drawingml/2006/main" w="9525">
            <a:solidFill>
              <a:srgbClr val="6366F1">
                <a:alpha val="26667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350663-0A99-431A-AEFF-3D134731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59080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8FAFC"/>
                </a:solidFill>
              </a:defRPr>
            </a:pPr>
            <a:r>
              <a:rPr sz="900" b="0">
                <a:solidFill>
                  <a:srgbClr val="F8FAFC"/>
                </a:solidFill>
              </a:rPr>
              <a:t>Ollama bge-m3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6F9466-A4E2-48C7-B559-10479FDD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527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BC54E5-DEF3-451A-99A0-7434E784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71750"/>
            <a:ext cx="1809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845"/>
          </a:solidFill>
          <a:ln xmlns:a="http://schemas.openxmlformats.org/drawingml/2006/main" w="9525">
            <a:solidFill>
              <a:srgbClr val="6366F1">
                <a:alpha val="26667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696A24-9BC1-478D-A1E3-4696100C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9080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8FAFC"/>
                </a:solidFill>
              </a:defRPr>
            </a:pPr>
            <a:r>
              <a:rPr sz="900" b="0">
                <a:solidFill>
                  <a:srgbClr val="F8FAFC"/>
                </a:solidFill>
              </a:rPr>
              <a:t>MiniMax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584570-3EE1-4E96-8AD8-FB8C2C46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527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660001-F544-4F9E-9B9A-DAFB9F44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1809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845"/>
          </a:solidFill>
          <a:ln xmlns:a="http://schemas.openxmlformats.org/drawingml/2006/main" w="9525">
            <a:solidFill>
              <a:srgbClr val="6366F1">
                <a:alpha val="26667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356826-93FE-48EA-9AC3-6D9D37BF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9080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8FAFC"/>
                </a:solidFill>
              </a:defRPr>
            </a:pPr>
            <a:r>
              <a:rPr sz="900" b="0">
                <a:solidFill>
                  <a:srgbClr val="F8FAFC"/>
                </a:solidFill>
              </a:rPr>
              <a:t>sentence-transformers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0ADFB2-288E-4266-86FD-0BDE83A7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1809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366F1">
              <a:alpha val="13333"/>
            </a:srgbClr>
          </a:solidFill>
          <a:ln xmlns:a="http://schemas.openxmlformats.org/drawingml/2006/main" w="9525">
            <a:solidFill>
              <a:srgbClr val="6366F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ED0005-28FA-454D-91D0-4937EE8C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9080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66F1"/>
                </a:solidFill>
              </a:defRPr>
            </a:pPr>
            <a:r>
              <a:rPr sz="900" b="0">
                <a:solidFill>
                  <a:srgbClr val="6366F1"/>
                </a:solidFill>
              </a:rPr>
              <a:t>TF-IDF (零依赖)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9B9A6E-FFAB-4DFD-9C24-AB487E24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B6D4"/>
                </a:solidFill>
              </a:defRPr>
            </a:pPr>
            <a:r>
              <a:rPr sz="1125" b="1">
                <a:solidFill>
                  <a:srgbClr val="06B6D4"/>
                </a:solidFill>
              </a:rPr>
              <a:t>向量索引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6E4631-BB88-4679-BF2D-2279FEB3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289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B2E4C1-21B9-4796-A740-C1C79D20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48000"/>
            <a:ext cx="1809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845"/>
          </a:solidFill>
          <a:ln xmlns:a="http://schemas.openxmlformats.org/drawingml/2006/main" w="9525">
            <a:solidFill>
              <a:srgbClr val="06B6D4">
                <a:alpha val="26667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769030-F774-4117-A5E8-9A34018A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0670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8FAFC"/>
                </a:solidFill>
              </a:defRPr>
            </a:pPr>
            <a:r>
              <a:rPr sz="900" b="0">
                <a:solidFill>
                  <a:srgbClr val="F8FAFC"/>
                </a:solidFill>
              </a:rPr>
              <a:t>FAISS HNSW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764BCE-1AAC-40C3-BF4C-AC396F1C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48000"/>
            <a:ext cx="1809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6B6D4">
              <a:alpha val="13333"/>
            </a:srgbClr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B26CEC-5C55-4C38-A677-9860AF85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670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6B6D4"/>
                </a:solidFill>
              </a:defRPr>
            </a:pPr>
            <a:r>
              <a:rPr sz="900" b="0">
                <a:solidFill>
                  <a:srgbClr val="06B6D4"/>
                </a:solidFill>
              </a:rPr>
              <a:t>numpy 线性检索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E3D690-6BCD-4134-A26E-E10994F1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B981"/>
                </a:solidFill>
              </a:defRPr>
            </a:pPr>
            <a:r>
              <a:rPr sz="1125" b="1">
                <a:solidFill>
                  <a:srgbClr val="10B981"/>
                </a:solidFill>
              </a:rPr>
              <a:t>存储层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CCD62B-4D76-495F-A32A-80F8F8D4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5052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786223-224D-4E0B-ACBB-8D1383B7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24250"/>
            <a:ext cx="1809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845"/>
          </a:solidFill>
          <a:ln xmlns:a="http://schemas.openxmlformats.org/drawingml/2006/main" w="9525">
            <a:solidFill>
              <a:srgbClr val="10B981">
                <a:alpha val="26667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FB2B45-7F27-480B-A612-36009E1D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4330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8FAFC"/>
                </a:solidFill>
              </a:defRPr>
            </a:pPr>
            <a:r>
              <a:rPr sz="900" b="0">
                <a:solidFill>
                  <a:srgbClr val="F8FAFC"/>
                </a:solidFill>
              </a:rPr>
              <a:t>Qdrant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725126-B725-4FDA-ACB6-54538F5C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052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C1C94D-7A07-403D-A966-D7D7B9B5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24250"/>
            <a:ext cx="1809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845"/>
          </a:solidFill>
          <a:ln xmlns:a="http://schemas.openxmlformats.org/drawingml/2006/main" w="9525">
            <a:solidFill>
              <a:srgbClr val="10B981">
                <a:alpha val="26667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8DAF16-434A-497B-A3F4-80FB6520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4330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8FAFC"/>
                </a:solidFill>
              </a:defRPr>
            </a:pPr>
            <a:r>
              <a:rPr sz="900" b="0">
                <a:solidFill>
                  <a:srgbClr val="F8FAFC"/>
                </a:solidFill>
              </a:rPr>
              <a:t>SQLite (WAL)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9C00D0-444B-4036-BF5C-57DCF5A6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1809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0B981">
              <a:alpha val="13333"/>
            </a:srgbClr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42877B-FF81-4A06-A664-18AE4D0C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4330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0B981"/>
                </a:solidFill>
              </a:defRPr>
            </a:pPr>
            <a:r>
              <a:rPr sz="900" b="0">
                <a:solidFill>
                  <a:srgbClr val="10B981"/>
                </a:solidFill>
              </a:rPr>
              <a:t>内存 Dict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85ADC9-B095-47DE-B144-6AB90994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59E0B"/>
                </a:solidFill>
              </a:defRPr>
            </a:pPr>
            <a:r>
              <a:rPr sz="1125" b="1">
                <a:solidFill>
                  <a:srgbClr val="F59E0B"/>
                </a:solidFill>
              </a:rPr>
              <a:t>图谱层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F4A443-AE08-4739-88D0-E22497EB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814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6A44BF-607D-4C70-92AA-FE8C454F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00500"/>
            <a:ext cx="1809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845"/>
          </a:solidFill>
          <a:ln xmlns:a="http://schemas.openxmlformats.org/drawingml/2006/main" w="9525">
            <a:solidFill>
              <a:srgbClr val="F59E0B">
                <a:alpha val="26667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9FC5CA-5712-441D-A804-5A1EE95B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195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8FAFC"/>
                </a:solidFill>
              </a:defRPr>
            </a:pPr>
            <a:r>
              <a:rPr sz="900" b="0">
                <a:solidFill>
                  <a:srgbClr val="F8FAFC"/>
                </a:solidFill>
              </a:rPr>
              <a:t>MemoryGraph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392092-6ABC-46C1-9BAF-6BB587B5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1809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9E0B">
              <a:alpha val="13333"/>
            </a:srgbClr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AB6EAE-7285-4457-90DC-3932771E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195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59E0B"/>
                </a:solidFill>
              </a:defRPr>
            </a:pPr>
            <a:r>
              <a:rPr sz="900" b="0">
                <a:solidFill>
                  <a:srgbClr val="F59E0B"/>
                </a:solidFill>
              </a:rPr>
              <a:t>纯向量检索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0CEA74F-5F3C-4590-95B7-A90DC3DC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C4899"/>
                </a:solidFill>
              </a:defRPr>
            </a:pPr>
            <a:r>
              <a:rPr sz="1125" b="1">
                <a:solidFill>
                  <a:srgbClr val="EC4899"/>
                </a:solidFill>
              </a:rPr>
              <a:t>时空层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93BC43B-FDEF-4D1F-8E3B-CB891326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4577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D5EA041-A250-458F-9FF8-905DE7C7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76750"/>
            <a:ext cx="1809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845"/>
          </a:solidFill>
          <a:ln xmlns:a="http://schemas.openxmlformats.org/drawingml/2006/main" w="9525">
            <a:solidFill>
              <a:srgbClr val="EC4899">
                <a:alpha val="26667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E615563-F4DB-4222-B002-509C8BA3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49580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8FAFC"/>
                </a:solidFill>
              </a:defRPr>
            </a:pPr>
            <a:r>
              <a:rPr sz="900" b="0">
                <a:solidFill>
                  <a:srgbClr val="F8FAFC"/>
                </a:solidFill>
              </a:rPr>
              <a:t>SpacetimeIndex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A94DFB0-B359-4930-A5EC-C2E756E5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76750"/>
            <a:ext cx="1809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C4899">
              <a:alpha val="13333"/>
            </a:srgbClr>
          </a:solidFill>
          <a:ln xmlns:a="http://schemas.openxmlformats.org/drawingml/2006/main" w="9525">
            <a:solidFill>
              <a:srgbClr val="EC489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B8E0E03-F7DB-45D4-85A9-FC4B2E21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9580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EC4899"/>
                </a:solidFill>
              </a:defRPr>
            </a:pPr>
            <a:r>
              <a:rPr sz="900" b="0">
                <a:solidFill>
                  <a:srgbClr val="EC4899"/>
                </a:solidFill>
              </a:rPr>
              <a:t>TemporalSystem 衰减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7461CFF-6CDC-4B36-A7D7-90A3AA87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61E36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94911FE-5636-426C-83B1-CEA77E8F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B981"/>
                </a:solidFill>
              </a:defRPr>
            </a:pPr>
            <a:r>
              <a:rPr sz="975" b="1">
                <a:solidFill>
                  <a:srgbClr val="10B981"/>
                </a:solidFill>
              </a:rPr>
              <a:t>商业意义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1AE11CC-C3CA-4BFE-9510-2FC45C36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626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→ 企业客户最怕服务中断。su-memory 的降级矩阵确保核心记忆功能在任何部署条件下均可用 — 这是竞品不具备的护城河。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47A0DC1-C544-4CA2-AD15-F253FCD4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su-memory SDK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276B78E-9EA1-4479-B83F-42F1E159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4579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6 / 10</a:t>
            </a:r>
          </a:p>
        </p:txBody>
      </p:sp>
    </p:spTree>
    <p:extLst>
      <p:ext uri="{BB962C8B-B14F-4D97-AF65-F5344CB8AC3E}">
        <p14:creationId xmlns:p14="http://schemas.microsoft.com/office/powerpoint/2010/main" val="18397324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E6378C-F5E9-4120-8214-0A90E6C4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8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02725F-EAA6-4AD5-A2ED-99867798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59E0B"/>
                </a:solidFill>
              </a:defRPr>
            </a:pPr>
            <a:r>
              <a:rPr sz="975" b="1">
                <a:solidFill>
                  <a:srgbClr val="F59E0B"/>
                </a:solidFill>
              </a:rPr>
              <a:t>ADVANTAGE 04  ·  产品化基础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29E413-087F-4CEB-891F-89B17779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这不是 PPT 项目 — 已发布的完整工程体系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13F3EE-2171-4D64-B6F9-DB30F76E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25146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61E36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BF24E2-3E6D-4652-AF14-D724172B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14525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6B6D4"/>
                </a:solidFill>
              </a:defRPr>
            </a:pPr>
            <a:r>
              <a:rPr sz="2400" b="1">
                <a:solidFill>
                  <a:srgbClr val="06B6D4"/>
                </a:solidFill>
              </a:rPr>
              <a:t>61,487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4FE306-8F3A-4872-AB0D-23B375A3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57425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行 核心代码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0341A1-7FAE-4888-A6B3-84CDD84B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86025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src/ · 124 个 Python 模块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D9F627-EA48-40A2-8591-CC2067A2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62125"/>
            <a:ext cx="25146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61E36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B300A9-CD12-4A56-AB32-1D0CFC0D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14525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6B6D4"/>
                </a:solidFill>
              </a:defRPr>
            </a:pPr>
            <a:r>
              <a:rPr sz="2400" b="1">
                <a:solidFill>
                  <a:srgbClr val="06B6D4"/>
                </a:solidFill>
              </a:rPr>
              <a:t>19,354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75997-4B17-4886-9963-994919EF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57425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行 测试代码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488691-11E1-4A29-A3E9-32C4BFD1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86025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58 个测试文件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468DAC-C1C1-4BAB-A4E2-B6708C63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62125"/>
            <a:ext cx="25146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61E36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F81A15-D1E5-4FF1-9EEE-CFD02935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14525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6B6D4"/>
                </a:solidFill>
              </a:defRPr>
            </a:pPr>
            <a:r>
              <a:rPr sz="2400" b="1">
                <a:solidFill>
                  <a:srgbClr val="06B6D4"/>
                </a:solidFill>
              </a:rPr>
              <a:t>42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FD8A9C-4054-444B-AAF3-F539930B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57425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个 结构化错误码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86176B-B42C-4EF2-B12A-309E31EE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86025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完整异常体系 exceptions.py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1FDC90-3755-497F-A360-938DEFB3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762125"/>
            <a:ext cx="25146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61E36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4BFEC3-475B-4298-ACBB-9CF81F49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14525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6B6D4"/>
                </a:solidFill>
              </a:defRPr>
            </a:pPr>
            <a:r>
              <a:rPr sz="2400" b="1">
                <a:solidFill>
                  <a:srgbClr val="06B6D4"/>
                </a:solidFill>
              </a:rPr>
              <a:t>24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1A146F-A46E-49EA-B819-B3BB42CF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57425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篇 技术文档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A6C0AA-B4B3-4806-8D28-DB600236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86025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API / 架构 / 迁移 / 部署 / 路线图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4AA968-7F07-4701-A0CF-36EA53FD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25146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61E36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5AFF85-4F9F-4896-9416-4EDA9BD9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05175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6B6D4"/>
                </a:solidFill>
              </a:defRPr>
            </a:pPr>
            <a:r>
              <a:rPr sz="2400" b="1">
                <a:solidFill>
                  <a:srgbClr val="06B6D4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B2A1C8-CDEC-4D84-B167-CB596E9E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48075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种 多语言 SDK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5BDD19-9494-4968-8642-83580932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76675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Python + TypeScript + JavaScript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C66619-1DAC-4341-9778-3A1073A7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52775"/>
            <a:ext cx="25146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61E36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869208-EF5F-477E-BE5F-649CD3F1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05175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6B6D4"/>
                </a:solidFill>
              </a:defRPr>
            </a:pPr>
            <a:r>
              <a:rPr sz="2400" b="1">
                <a:solidFill>
                  <a:srgbClr val="06B6D4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8F2F5F-BCBA-4E60-9D1B-608D092D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48075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种 存储后端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F8C49D-F8A7-4874-BB5B-BCA746BE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76675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Redis / PG / Qdrant / SQLite / FAISS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BFC8AD-7199-46C2-A675-D15DC920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52775"/>
            <a:ext cx="25146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61E36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D8B785-71B0-4458-9686-46137E81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05175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6B6D4"/>
                </a:solidFill>
              </a:defRPr>
            </a:pPr>
            <a:r>
              <a:rPr sz="2400" b="1">
                <a:solidFill>
                  <a:srgbClr val="06B6D4"/>
                </a:solidFill>
              </a:rPr>
              <a:t>11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21ACAE-EE45-4E14-8F81-197A51F5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48075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个 可运行示例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6E293C-9E64-4AEF-A4D3-C33C0102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76675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examples/ 目录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815AD2-49D4-4254-9067-C51BAF18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52775"/>
            <a:ext cx="25146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61E36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527F8A-6ECD-4630-9B5F-C7EB46A9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05175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6B6D4"/>
                </a:solidFill>
              </a:defRPr>
            </a:pPr>
            <a:r>
              <a:rPr sz="2400" b="1">
                <a:solidFill>
                  <a:srgbClr val="06B6D4"/>
                </a:solidFill>
              </a:rPr>
              <a:t>v4.0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F65056-A6D7-4008-B39C-412AD749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648075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 当前版本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6F91D4-DD55-4D53-940C-721D4E2C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76675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4A3B8"/>
                </a:solidFill>
              </a:defRPr>
            </a:pPr>
            <a:r>
              <a:rPr sz="825" b="0">
                <a:solidFill>
                  <a:srgbClr val="94A3B8"/>
                </a:solidFill>
              </a:rPr>
              <a:t>55 次 Git 提交 · 持续迭代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0CE825-6A61-4AF6-A3E6-3031EA0B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9E0B"/>
                </a:solidFill>
              </a:defRPr>
            </a:pPr>
            <a:r>
              <a:rPr sz="1050" b="1">
                <a:solidFill>
                  <a:srgbClr val="F59E0B"/>
                </a:solidFill>
              </a:rPr>
              <a:t>完整开发者体验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C612FF-9A30-4516-AF2E-7301FEDA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676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>
              <a:alpha val="10196"/>
            </a:srgbClr>
          </a:solidFill>
          <a:ln xmlns:a="http://schemas.openxmlformats.org/drawingml/2006/main" w="9525">
            <a:solidFill>
              <a:srgbClr val="F59E0B">
                <a:alpha val="4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0E2E72-44D7-409E-8352-75ACCAA5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F59E0B"/>
                </a:solidFill>
              </a:defRPr>
            </a:pPr>
            <a:r>
              <a:rPr sz="825" b="0">
                <a:solidFill>
                  <a:srgbClr val="F59E0B"/>
                </a:solidFill>
              </a:rPr>
              <a:t>pip install su-memory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0C4994-C712-44F1-8D4C-DB51262B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914900"/>
            <a:ext cx="1676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>
              <a:alpha val="10196"/>
            </a:srgbClr>
          </a:solidFill>
          <a:ln xmlns:a="http://schemas.openxmlformats.org/drawingml/2006/main" w="9525">
            <a:solidFill>
              <a:srgbClr val="F59E0B">
                <a:alpha val="4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67241C-33FC-4D2F-BCD0-A10203A6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F59E0B"/>
                </a:solidFill>
              </a:defRPr>
            </a:pPr>
            <a:r>
              <a:rPr sz="825" b="0">
                <a:solidFill>
                  <a:srgbClr val="F59E0B"/>
                </a:solidFill>
              </a:rPr>
              <a:t>FastAPI REST 网关 + 鉴权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4F3C5E6-C3A3-4CFE-A12D-8C6FF4AD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914900"/>
            <a:ext cx="1676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>
              <a:alpha val="10196"/>
            </a:srgbClr>
          </a:solidFill>
          <a:ln xmlns:a="http://schemas.openxmlformats.org/drawingml/2006/main" w="9525">
            <a:solidFill>
              <a:srgbClr val="F59E0B">
                <a:alpha val="4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431FAF2-2479-4CEA-AC91-E3F38AD9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953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F59E0B"/>
                </a:solidFill>
              </a:defRPr>
            </a:pPr>
            <a:r>
              <a:rPr sz="825" b="0">
                <a:solidFill>
                  <a:srgbClr val="F59E0B"/>
                </a:solidFill>
              </a:rPr>
              <a:t>Vite Dashboard 可视化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68EF828-9CFD-4595-8A44-7BA2EE37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914900"/>
            <a:ext cx="1676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>
              <a:alpha val="10196"/>
            </a:srgbClr>
          </a:solidFill>
          <a:ln xmlns:a="http://schemas.openxmlformats.org/drawingml/2006/main" w="9525">
            <a:solidFill>
              <a:srgbClr val="F59E0B">
                <a:alpha val="4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A83E964-A5AF-443B-90D0-2F5FDA04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53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F59E0B"/>
                </a:solidFill>
              </a:defRPr>
            </a:pPr>
            <a:r>
              <a:rPr sz="825" b="0">
                <a:solidFill>
                  <a:srgbClr val="F59E0B"/>
                </a:solidFill>
              </a:rPr>
              <a:t>Docker 容器化部署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894712A-C94E-4833-94AA-59962D1D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914900"/>
            <a:ext cx="1676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>
              <a:alpha val="10196"/>
            </a:srgbClr>
          </a:solidFill>
          <a:ln xmlns:a="http://schemas.openxmlformats.org/drawingml/2006/main" w="9525">
            <a:solidFill>
              <a:srgbClr val="F59E0B">
                <a:alpha val="4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4E442D5-B8EC-4F97-8633-5C139172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53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F59E0B"/>
                </a:solidFill>
              </a:defRPr>
            </a:pPr>
            <a:r>
              <a:rPr sz="825" b="0">
                <a:solidFill>
                  <a:srgbClr val="F59E0B"/>
                </a:solidFill>
              </a:rPr>
              <a:t>插件系统 (embedding/rerank/monitor)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242EA6A-042D-45D8-88A2-CC8B6AB6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914900"/>
            <a:ext cx="1676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>
              <a:alpha val="10196"/>
            </a:srgbClr>
          </a:solidFill>
          <a:ln xmlns:a="http://schemas.openxmlformats.org/drawingml/2006/main" w="9525">
            <a:solidFill>
              <a:srgbClr val="F59E0B">
                <a:alpha val="4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57E55CA-92FD-4E2B-88A7-5B1051F2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53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F59E0B"/>
                </a:solidFill>
              </a:defRPr>
            </a:pPr>
            <a:r>
              <a:rPr sz="825" b="0">
                <a:solidFill>
                  <a:srgbClr val="F59E0B"/>
                </a:solidFill>
              </a:rPr>
              <a:t>PyPI 已发布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BD170B7-C4DB-4240-9BBD-FB375CFF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→ 一行代码接入，全链路开发者体验就绪，企业可直接集成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3D7A868-2FD4-4DDB-B16B-11DD8503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su-memory SDK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B6BF1EA-4756-4257-BD43-A1E2CF78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4579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7 / 10</a:t>
            </a:r>
          </a:p>
        </p:txBody>
      </p:sp>
    </p:spTree>
    <p:extLst>
      <p:ext uri="{BB962C8B-B14F-4D97-AF65-F5344CB8AC3E}">
        <p14:creationId xmlns:p14="http://schemas.microsoft.com/office/powerpoint/2010/main" val="1002735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9E172F-279A-4743-B0E0-3051AFD0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8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48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C19D7C-498A-4C1B-8836-3AB950E0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C4899"/>
                </a:solidFill>
              </a:defRPr>
            </a:pPr>
            <a:r>
              <a:rPr sz="975" b="1">
                <a:solidFill>
                  <a:srgbClr val="EC4899"/>
                </a:solidFill>
              </a:rPr>
              <a:t>ADVANTAGE 05  ·  市场定位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826726-166C-4ACE-B019-A0202B60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本地优先 — 中国强监管行业的唯一选择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F45885-62A5-4976-B3CE-413732D7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381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E36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DFA30-15F2-4F0E-9342-9600EB03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B981"/>
                </a:solidFill>
              </a:defRPr>
            </a:pPr>
            <a:r>
              <a:rPr sz="1125" b="1">
                <a:solidFill>
                  <a:srgbClr val="10B981"/>
                </a:solidFill>
              </a:rPr>
              <a:t>全链路本地化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864343-671E-4879-9733-2761F131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449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8FAFC"/>
                </a:solidFill>
              </a:defRPr>
            </a:pPr>
            <a:r>
              <a:rPr sz="2100" b="1">
                <a:solidFill>
                  <a:srgbClr val="F8FAFC"/>
                </a:solidFill>
              </a:rPr>
              <a:t>数据不出域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BD3322-8CF8-493B-9742-37314AA2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3AFA15-30F0-445B-9165-9A9E4E1F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527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嵌入模型本地化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B42369-7733-4D37-B5F0-70476885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623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Ollama bge-m3，无需调云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773F39-1AA9-4019-917F-D100A926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75D275-D2A5-4834-B1FA-420913A0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861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存储本地化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1BBE99-3966-4B52-A36D-917F4620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95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SQLite / 本地 FAISS，数据全程在端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86DA68-D843-4D1F-940E-01A9FF1F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02FDC1-1D00-481F-84AA-50B772CD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195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推理本地化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C05CCA-8E9C-4669-B8B8-3BF01580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291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本地 32B 模型 Metal GPU 推理已验证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9FF0D2-5626-47B0-8883-B9E50507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B42A70-CDFA-431E-AA83-A1B6B321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529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合规满足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62AD2E-2A4C-4F96-829C-EDC31B4B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625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《数据安全法》《个人信息保护法》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A73671-09CC-421B-9E57-B3A5FF62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09750"/>
            <a:ext cx="5562600" cy="381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E36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F6FE21-06D9-4A22-9490-55AD084D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38350"/>
            <a:ext cx="510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6B6D4"/>
                </a:solidFill>
              </a:defRPr>
            </a:pPr>
            <a:r>
              <a:rPr sz="1125" b="1">
                <a:solidFill>
                  <a:srgbClr val="06B6D4"/>
                </a:solidFill>
              </a:rPr>
              <a:t>竞品对比（仅保留可验证项）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BEC1B8-D29C-43DA-B40F-45469770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81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能力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31D063-B4E7-4337-B2FF-94942784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81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B981"/>
                </a:solidFill>
              </a:defRPr>
            </a:pPr>
            <a:r>
              <a:rPr sz="975" b="1">
                <a:solidFill>
                  <a:srgbClr val="10B981"/>
                </a:solidFill>
              </a:rPr>
              <a:t>su-memory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81EB0B-6369-4F78-A51B-18D3B1DE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812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Zep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52091B-4C54-4289-B716-80272FA3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812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Mem0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CFEE17-919B-40AB-A076-C53E4415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381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Hindsight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5E9EA1-C62C-46FE-A861-0F4D83C1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67000"/>
            <a:ext cx="51054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E2845">
              <a:alpha val="33333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E94266-9CF2-4276-BAC7-DE34F9FA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4A3B8"/>
                </a:solidFill>
              </a:defRPr>
            </a:pPr>
            <a:r>
              <a:rPr sz="1200" b="1">
                <a:solidFill>
                  <a:srgbClr val="94A3B8"/>
                </a:solidFill>
              </a:rPr>
              <a:t>本地部署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EBA04D-8A7D-499D-8CFE-D547F80A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051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B981"/>
                </a:solidFill>
              </a:defRPr>
            </a:pPr>
            <a:r>
              <a:rPr sz="120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3C4090-A145-43B0-A0D4-493B9BE4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051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72AD7B-B7C4-4F9F-A45B-FEE4E446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051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97F4E0-B042-4808-A8BB-E191DCA1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7051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✗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F99356-4358-4481-BFE1-F76544EC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86100"/>
            <a:ext cx="5105400" cy="361950"/>
          </a:xfrm>
          <a:prstGeom xmlns:a="http://schemas.openxmlformats.org/drawingml/2006/main" prst="roundRect">
            <a:avLst>
              <a:gd name="adj" fmla="val 21053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74CFC9-9058-4A78-86E8-0C5F1AB0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24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4A3B8"/>
                </a:solidFill>
              </a:defRPr>
            </a:pPr>
            <a:r>
              <a:rPr sz="1200" b="1">
                <a:solidFill>
                  <a:srgbClr val="94A3B8"/>
                </a:solidFill>
              </a:rPr>
              <a:t>因果推理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BEC0A8-4967-42C2-9A62-61AF3E20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242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B981"/>
                </a:solidFill>
              </a:defRPr>
            </a:pPr>
            <a:r>
              <a:rPr sz="120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E77F6B-F0DD-46A8-8FA6-FD4C15B7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242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✗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9C0888-624F-468B-A992-E8DDF719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242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✗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01FE42-34B3-4B62-95EE-8A366340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1242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✗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4EAB69-BB15-40BC-9E36-C1AC1668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05200"/>
            <a:ext cx="51054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E2845">
              <a:alpha val="33333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1D9F84-774F-4B5B-8805-82810EF5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43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4A3B8"/>
                </a:solidFill>
              </a:defRPr>
            </a:pPr>
            <a:r>
              <a:rPr sz="1200" b="1">
                <a:solidFill>
                  <a:srgbClr val="94A3B8"/>
                </a:solidFill>
              </a:rPr>
              <a:t>可解释推理链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8AAD3F-31C5-475A-B78B-221A8327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5433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B981"/>
                </a:solidFill>
              </a:defRPr>
            </a:pPr>
            <a:r>
              <a:rPr sz="120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E8F987-4910-411E-8012-923C09A4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433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4A3B8"/>
                </a:solidFill>
              </a:defRPr>
            </a:pPr>
            <a:r>
              <a:rPr sz="1200" b="0">
                <a:solidFill>
                  <a:srgbClr val="94A3B8"/>
                </a:solidFill>
              </a:rPr>
              <a:t>△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FBEF79-ABCB-47F9-ACBE-79A1AEB6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5433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✗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BA1A97-C2CB-41F9-87E4-8C92975A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5433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4A3B8"/>
                </a:solidFill>
              </a:defRPr>
            </a:pPr>
            <a:r>
              <a:rPr sz="1200" b="0">
                <a:solidFill>
                  <a:srgbClr val="94A3B8"/>
                </a:solidFill>
              </a:rPr>
              <a:t>△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C26A48A-FB00-455E-B629-B9D81E02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24300"/>
            <a:ext cx="5105400" cy="361950"/>
          </a:xfrm>
          <a:prstGeom xmlns:a="http://schemas.openxmlformats.org/drawingml/2006/main" prst="roundRect">
            <a:avLst>
              <a:gd name="adj" fmla="val 21053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F3F9D5C-44BA-4FE5-956C-9FD76E92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624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4A3B8"/>
                </a:solidFill>
              </a:defRPr>
            </a:pPr>
            <a:r>
              <a:rPr sz="1200" b="1">
                <a:solidFill>
                  <a:srgbClr val="94A3B8"/>
                </a:solidFill>
              </a:rPr>
              <a:t>数学理论层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5960562-CDEE-42C8-8C83-1122B5C0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9624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B981"/>
                </a:solidFill>
              </a:defRPr>
            </a:pPr>
            <a:r>
              <a:rPr sz="120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A3C41EF-7B00-4911-962B-A56B1410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624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✗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187ACC7-CF8D-4DEA-B307-2828F4B8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9624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✗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903524D-6D12-48C7-B28C-0D5CD0FD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9624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✗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3C8D6A3-8E42-4650-AB64-F06CD5C1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43400"/>
            <a:ext cx="51054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E2845">
              <a:alpha val="33333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698298E-DAF4-439B-9AAB-2458DD2F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81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4A3B8"/>
                </a:solidFill>
              </a:defRPr>
            </a:pPr>
            <a:r>
              <a:rPr sz="1200" b="1">
                <a:solidFill>
                  <a:srgbClr val="94A3B8"/>
                </a:solidFill>
              </a:rPr>
              <a:t>降级容错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A54E7F2-B3BF-47F1-8ADF-5394F50B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3815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B981"/>
                </a:solidFill>
              </a:defRPr>
            </a:pPr>
            <a:r>
              <a:rPr sz="120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16AFA82-5194-4525-8E12-F0B4639F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3815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✗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0AF1BD0-F93C-4B00-A71D-795A70EE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3815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✗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5582710-8663-4F89-A008-679EFD36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381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✗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B31E9B9-7AF9-4E7B-8FF5-D2A15B0F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62500"/>
            <a:ext cx="5105400" cy="361950"/>
          </a:xfrm>
          <a:prstGeom xmlns:a="http://schemas.openxmlformats.org/drawingml/2006/main" prst="roundRect">
            <a:avLst>
              <a:gd name="adj" fmla="val 21053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B79794D-5F96-400B-A7F7-FC8844C4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00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4A3B8"/>
                </a:solidFill>
              </a:defRPr>
            </a:pPr>
            <a:r>
              <a:rPr sz="1200" b="1">
                <a:solidFill>
                  <a:srgbClr val="94A3B8"/>
                </a:solidFill>
              </a:rPr>
              <a:t>开源 Apache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BEDDDD4-9AAA-4EA2-9133-73EA0A26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800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B981"/>
                </a:solidFill>
              </a:defRPr>
            </a:pPr>
            <a:r>
              <a:rPr sz="120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594F2C5-ACD9-46F8-97AD-0F279F8A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006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✗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CE4548D-5510-4E8C-A7FA-7948ED38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8006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✗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FE24B9F-3D06-4910-A66C-6E1ECDE0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800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✗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CD5DCEF-A873-46F8-A24C-02DDB037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su-memory SDK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507056C-4C1D-4E1B-9643-AB51EB68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4579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8 / 10</a:t>
            </a:r>
          </a:p>
        </p:txBody>
      </p:sp>
    </p:spTree>
    <p:extLst>
      <p:ext uri="{BB962C8B-B14F-4D97-AF65-F5344CB8AC3E}">
        <p14:creationId xmlns:p14="http://schemas.microsoft.com/office/powerpoint/2010/main" val="4939263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B8A0D2-74AD-4B96-8B6F-BF4E36F6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8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1506D-96A8-4E88-89B6-6060CB07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59E0B"/>
                </a:solidFill>
              </a:defRPr>
            </a:pPr>
            <a:r>
              <a:rPr sz="975" b="1">
                <a:solidFill>
                  <a:srgbClr val="F59E0B"/>
                </a:solidFill>
              </a:rPr>
              <a:t>BUSINESS  ·  商业模式与现状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61610-7E5D-4616-9726-140808AC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开源 + 商业化双轮，清晰变现路径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C74F86-BDBB-4ADF-A382-AF174695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59E0B"/>
                </a:solidFill>
              </a:defRPr>
            </a:pPr>
            <a:r>
              <a:rPr sz="1125" b="1">
                <a:solidFill>
                  <a:srgbClr val="F59E0B"/>
                </a:solidFill>
              </a:rPr>
              <a:t>四层定价体系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F7EC1-64AC-4B20-AB32-D0E85C6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953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61E36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0E021-B8CA-4973-85CE-20089ABA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38100" cy="57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2C3C5-A287-43F9-B546-27198418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Community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62EFF9-4EE3-47BB-AF86-AAAC38CA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开源获客 · Apache-2.0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94DD87-EE1A-4999-BDA8-BEBD6808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717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4A3B8"/>
                </a:solidFill>
              </a:defRPr>
            </a:pPr>
            <a:r>
              <a:rPr sz="1650" b="1">
                <a:solidFill>
                  <a:srgbClr val="94A3B8"/>
                </a:solidFill>
              </a:rPr>
              <a:t>免费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BA5846-1E88-43FC-AD2D-E3E19610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4953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61E36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38DB4A-85D0-45E4-B4DC-E8A04EA1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38100" cy="57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D56A18-E1A9-423C-A264-33195FBC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Pro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30990F-BE3E-48E5-AAC5-2A35CB09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小团队 SaaS 订阅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B90FB1-6320-4303-98C0-39A620B2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384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6B6D4"/>
                </a:solidFill>
              </a:defRPr>
            </a:pPr>
            <a:r>
              <a:rPr sz="1650" b="1">
                <a:solidFill>
                  <a:srgbClr val="06B6D4"/>
                </a:solidFill>
              </a:rPr>
              <a:t>¥99/月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1A82AC-774B-42CE-893A-C0CD3263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4953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61E36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372946-5170-4F45-B433-E4DFA7D2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38100" cy="57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6366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B00748-CDDF-476E-9141-D6EC52EF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Enterprise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54C9C2-E464-4BC9-851C-E9E76C36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企业级应用支持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56EDC6-4002-40A7-A794-56959D16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052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366F1"/>
                </a:solidFill>
              </a:defRPr>
            </a:pPr>
            <a:r>
              <a:rPr sz="1650" b="1">
                <a:solidFill>
                  <a:srgbClr val="6366F1"/>
                </a:solidFill>
              </a:rPr>
              <a:t>¥399/月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9F5E67-55BD-4D6A-B0CF-ACB29A10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4953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61E36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F9F77F-D65C-47D0-AC27-1F946E53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38100" cy="57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57B975-FEC9-4B46-9635-500C93D8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On-Premise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8B7AE5-B5AA-4DD3-B534-67970F3E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大型私有化部署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9FE474-D5A5-44AA-B950-0FD7D4F4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719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B981"/>
                </a:solidFill>
              </a:defRPr>
            </a:pPr>
            <a:r>
              <a:rPr sz="1650" b="1">
                <a:solidFill>
                  <a:srgbClr val="10B981"/>
                </a:solidFill>
              </a:rPr>
              <a:t>¥9,999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982626-CADE-4066-A1FB-E7F24611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14500"/>
            <a:ext cx="5562600" cy="381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E36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120415-06A0-4E1F-B7E1-E99C75C7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05000"/>
            <a:ext cx="510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59E0B"/>
                </a:solidFill>
              </a:defRPr>
            </a:pPr>
            <a:r>
              <a:rPr sz="1125" b="1">
                <a:solidFill>
                  <a:srgbClr val="F59E0B"/>
                </a:solidFill>
              </a:rPr>
              <a:t>诚实现状披露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4169FB-F398-4E2E-AB4B-186F5DE4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71700"/>
            <a:ext cx="510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4A3B8"/>
                </a:solidFill>
              </a:defRPr>
            </a:pPr>
            <a:r>
              <a:rPr sz="975" b="0">
                <a:solidFill>
                  <a:srgbClr val="94A3B8"/>
                </a:solidFill>
              </a:rPr>
              <a:t>路演中主动披露，反而增加可信度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276638-1224-46FD-A497-8467353C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52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59E0B"/>
                </a:solidFill>
              </a:defRPr>
            </a:pPr>
            <a:r>
              <a:rPr sz="975" b="1">
                <a:solidFill>
                  <a:srgbClr val="F59E0B"/>
                </a:solidFill>
              </a:rPr>
              <a:t>开发状态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61C553-98F6-4BB7-B7CF-C01BF733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622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8FAFC"/>
                </a:solidFill>
              </a:defRPr>
            </a:pPr>
            <a:r>
              <a:rPr sz="975" b="0">
                <a:solidFill>
                  <a:srgbClr val="F8FAFC"/>
                </a:solidFill>
              </a:rPr>
              <a:t>Beta（非生产稳定），pyproject 已标注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BB20D8-002E-4B32-8721-72705D88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86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59E0B"/>
                </a:solidFill>
              </a:defRPr>
            </a:pPr>
            <a:r>
              <a:rPr sz="975" b="1">
                <a:solidFill>
                  <a:srgbClr val="F59E0B"/>
                </a:solidFill>
              </a:rPr>
              <a:t>团队规模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6B98AD-5FCB-46E1-8C48-FFC6D402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956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8FAFC"/>
                </a:solidFill>
              </a:defRPr>
            </a:pPr>
            <a:r>
              <a:rPr sz="975" b="0">
                <a:solidFill>
                  <a:srgbClr val="F8FAFC"/>
                </a:solidFill>
              </a:rPr>
              <a:t>单人独立开发，尚无团队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6BD078-3FCD-4A6F-A39A-8193BF8F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19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59E0B"/>
                </a:solidFill>
              </a:defRPr>
            </a:pPr>
            <a:r>
              <a:rPr sz="975" b="1">
                <a:solidFill>
                  <a:srgbClr val="F59E0B"/>
                </a:solidFill>
              </a:rPr>
              <a:t>整体性能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F1AB33-DA0E-4AA6-9800-6B7EE61F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290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8FAFC"/>
                </a:solidFill>
              </a:defRPr>
            </a:pPr>
            <a:r>
              <a:rPr sz="975" b="0">
                <a:solidFill>
                  <a:srgbClr val="F8FAFC"/>
                </a:solidFill>
              </a:rPr>
              <a:t>标准 EM 62.5%，距 SOTA(70.83%)差约 8 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E0727F-AB9F-4793-BF4B-5FA2830B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529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59E0B"/>
                </a:solidFill>
              </a:defRPr>
            </a:pPr>
            <a:r>
              <a:rPr sz="975" b="1">
                <a:solidFill>
                  <a:srgbClr val="F59E0B"/>
                </a:solidFill>
              </a:rPr>
              <a:t>商业化验证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24ED5E-C87D-46DB-9735-9848764E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624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8FAFC"/>
                </a:solidFill>
              </a:defRPr>
            </a:pPr>
            <a:r>
              <a:rPr sz="975" b="0">
                <a:solidFill>
                  <a:srgbClr val="F8FAFC"/>
                </a:solidFill>
              </a:rPr>
              <a:t>定价体系已设计，尚无公开付费用户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6D69CA-5931-4B6B-A5F0-F85147E5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86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59E0B"/>
                </a:solidFill>
              </a:defRPr>
            </a:pPr>
            <a:r>
              <a:rPr sz="975" b="1">
                <a:solidFill>
                  <a:srgbClr val="F59E0B"/>
                </a:solidFill>
              </a:rPr>
              <a:t>数据一致性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DB5C0E-A36A-4EF4-852F-07340DC7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95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8FAFC"/>
                </a:solidFill>
              </a:defRPr>
            </a:pPr>
            <a:r>
              <a:rPr sz="975" b="0">
                <a:solidFill>
                  <a:srgbClr val="F8FAFC"/>
                </a:solidFill>
              </a:rPr>
              <a:t>LEADERBOARD.md 旧数据待清理统一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DBFC53-DF81-4A0C-84E8-7B020EA8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19700"/>
            <a:ext cx="510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→ 在 AI 数据注水普遍的环境下，工程诚实是稀缺品质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D43591-FE27-4509-B737-CE18C261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su-memory SDK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8FAA96-6360-487B-9F50-D56A5ED6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4579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9 / 10</a:t>
            </a:r>
          </a:p>
        </p:txBody>
      </p:sp>
    </p:spTree>
    <p:extLst>
      <p:ext uri="{BB962C8B-B14F-4D97-AF65-F5344CB8AC3E}">
        <p14:creationId xmlns:p14="http://schemas.microsoft.com/office/powerpoint/2010/main" val="3382297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3247B8-1D31-4B97-8EBF-CE101B8A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76250" y="3810000"/>
            <a:ext cx="3810000" cy="3810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6366F1">
                  <a:alpha val="10000"/>
                </a:srgbClr>
              </a:gs>
              <a:gs pos="70000">
                <a:srgbClr val="6366F1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C01C61-5691-4EE5-9BE2-84908183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762000"/>
            <a:ext cx="4762500" cy="4762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06B6D4">
                  <a:alpha val="8000"/>
                </a:srgbClr>
              </a:gs>
              <a:gs pos="70000">
                <a:srgbClr val="06B6D4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D0285-E800-4B59-974B-53E818CF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6B6D4"/>
                </a:solidFill>
              </a:defRPr>
            </a:pPr>
            <a:r>
              <a:rPr sz="1050" b="1">
                <a:solidFill>
                  <a:srgbClr val="06B6D4"/>
                </a:solidFill>
              </a:rPr>
              <a:t>WHY su-memory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EF18FF-909C-48D7-9450-208C1066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给全球 AI 装上记忆大脑的基础设施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548F18-B012-4E07-B797-EA2A7DA2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4290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61E36"/>
          </a:solidFill>
          <a:ln xmlns:a="http://schemas.openxmlformats.org/drawingml/2006/main" w="14288">
            <a:solidFill>
              <a:srgbClr val="6366F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615F4A-6DD1-4A0E-ADE3-70D1D7A2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366F1"/>
                </a:solidFill>
              </a:defRPr>
            </a:pPr>
            <a:r>
              <a:rPr sz="1500" b="1">
                <a:solidFill>
                  <a:srgbClr val="6366F1"/>
                </a:solidFill>
              </a:rPr>
              <a:t>技术壁垒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BE75FE-1BE7-405C-A050-5102ED83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2971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自研 algebra 数学层 + 因果推理</a:t>
            </a:r>
          </a:p>
          <a:p xmlns:a="http://schemas.openxmlformats.org/drawingml/2006/main">
            <a:pPr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论文级底层框架，专利护城河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D5722D-3100-4DAA-B6A7-5D3C72F5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34290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61E36"/>
          </a:solidFill>
          <a:ln xmlns:a="http://schemas.openxmlformats.org/drawingml/2006/main" w="14288">
            <a:solidFill>
              <a:srgbClr val="06B6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A7D7F5-A454-4275-B603-B7F881E5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288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6B6D4"/>
                </a:solidFill>
              </a:defRPr>
            </a:pPr>
            <a:r>
              <a:rPr sz="1500" b="1">
                <a:solidFill>
                  <a:srgbClr val="06B6D4"/>
                </a:solidFill>
              </a:rPr>
              <a:t>产品成熟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0D0D7F-11E6-4D25-8073-D0592FC2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09850"/>
            <a:ext cx="2971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61K 行代码 · 4 版迭代 · PyPI 发布</a:t>
            </a:r>
          </a:p>
          <a:p xmlns:a="http://schemas.openxmlformats.org/drawingml/2006/main">
            <a:pPr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完整开发者体验，企业可直接集成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E8AF7F-1CD8-458F-BA81-AD610319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00250"/>
            <a:ext cx="34290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61E36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FACA7C-5BF3-4723-B550-A00A98AE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288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市场窗口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5FB53E-82BC-4E50-8AD3-CA3696BA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09850"/>
            <a:ext cx="2971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Agent 爆发，记忆层是刚需</a:t>
            </a:r>
          </a:p>
          <a:p xmlns:a="http://schemas.openxmlformats.org/drawingml/2006/main">
            <a:pPr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本地优先 = 中国强监管行业唯一选择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CAB539-BEC9-4F24-879F-E2CDDB74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61E36"/>
          </a:solidFill>
          <a:ln xmlns:a="http://schemas.openxmlformats.org/drawingml/2006/main" w="19050">
            <a:solidFill>
              <a:srgbClr val="6366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BAB325-A71C-401B-8771-880E2DE3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366F1"/>
                </a:solidFill>
              </a:defRPr>
            </a:pPr>
            <a:r>
              <a:rPr sz="1200" b="1">
                <a:solidFill>
                  <a:srgbClr val="6366F1"/>
                </a:solidFill>
              </a:rPr>
              <a:t>融资诉求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392A73-7277-4F18-8AD5-BEDF6B0F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1036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种子轮 / 天使轮  ·  用于团队组建 + SOTA 模型微调 + 企业客户 PoC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4FBBB7-6C24-4091-AB5D-71A65C00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1036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资金用途：扩充工程团队 · 多跳专属模型微调突破 SOTA · 金融/医疗行业首批客户落地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52EEAC-8EB6-4689-9C98-3A80F068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64F630-B9BC-4C5C-BA7D-D40ABDED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sandysu737@gmail.com  ·  github.com/su-memory/su-memory-sdk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E69808-6ECE-4FC9-8BDE-EC4B10D5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8864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Apache-2.0  ·  2026</a:t>
            </a:r>
          </a:p>
        </p:txBody>
      </p:sp>
    </p:spTree>
    <p:extLst>
      <p:ext uri="{BB962C8B-B14F-4D97-AF65-F5344CB8AC3E}">
        <p14:creationId xmlns:p14="http://schemas.microsoft.com/office/powerpoint/2010/main" val="12796422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2026-07-09T05:52:00.2940000Z</dcterms:created>
  <dcterms:modified xsi:type="dcterms:W3CDTF">2026-07-09T05:52:00.2940000Z</dcterms:modified>
</coreProperties>
</file>